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Cambria Math"/>
      <p:regular r:id="rId14"/>
    </p:embeddedFont>
    <p:embeddedFont>
      <p:font typeface="Century Gothic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huCtx2zBjcZP2zPfIDbDIRvP+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08C3E7-59CD-4291-B1E9-87A5D1F1BDEB}">
  <a:tblStyle styleId="{6908C3E7-59CD-4291-B1E9-87A5D1F1BDE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enturyGothic-regular.fntdata"/><Relationship Id="rId14" Type="http://schemas.openxmlformats.org/officeDocument/2006/relationships/font" Target="fonts/CambriaMath-regular.fntdata"/><Relationship Id="rId17" Type="http://schemas.openxmlformats.org/officeDocument/2006/relationships/font" Target="fonts/CenturyGothic-italic.fntdata"/><Relationship Id="rId16" Type="http://schemas.openxmlformats.org/officeDocument/2006/relationships/font" Target="fonts/CenturyGothic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CenturyGothic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305740" y="88474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6000"/>
              <a:buFont typeface="Century Gothic"/>
              <a:buNone/>
            </a:pPr>
            <a:r>
              <a:rPr lang="es-ES" sz="4400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Presentación de Proyectos</a:t>
            </a:r>
            <a:br>
              <a:rPr lang="es-ES" sz="4400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4400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Aspirantes 2025B</a:t>
            </a:r>
            <a:br>
              <a:rPr lang="es-ES" sz="4800" cap="small">
                <a:solidFill>
                  <a:srgbClr val="00278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s-ES" sz="2800" cap="small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Maestría en ciencias de los datos</a:t>
            </a:r>
            <a:br>
              <a:rPr lang="es-ES" sz="2800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2000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Centro Universitario de Ciencias Económico-Administrativas</a:t>
            </a:r>
            <a:endParaRPr cap="small">
              <a:solidFill>
                <a:srgbClr val="0027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entury Gothic"/>
              <a:buNone/>
            </a:pPr>
            <a:r>
              <a:rPr b="0" i="1" lang="es-ES" sz="1800" u="none" cap="small" strike="noStrike">
                <a:solidFill>
                  <a:srgbClr val="1E4E7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Fecha 27 de JUNIO de </a:t>
            </a:r>
            <a:r>
              <a:rPr b="0" i="1" lang="es-ES" sz="1800" u="none" cap="small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2025</a:t>
            </a:r>
            <a:endParaRPr b="0" i="1" sz="1800" u="none" cap="small" strike="noStrike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0371" y="213692"/>
            <a:ext cx="1976470" cy="758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39" y="361554"/>
            <a:ext cx="2931055" cy="6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305740" y="3063275"/>
            <a:ext cx="9144000" cy="3106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Font typeface="Arial"/>
              <a:buNone/>
            </a:pPr>
            <a:r>
              <a:t/>
            </a:r>
            <a:endParaRPr b="1" i="0" sz="2220" u="none" cap="small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Font typeface="Arial"/>
              <a:buNone/>
            </a:pPr>
            <a:r>
              <a:t/>
            </a:r>
            <a:endParaRPr b="1" i="0" sz="2220" u="none" cap="small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Font typeface="Arial"/>
              <a:buNone/>
            </a:pPr>
            <a:r>
              <a:rPr b="1" i="0" lang="es-ES" sz="2220" u="none" cap="small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Carlos Pulido Rosas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Font typeface="Arial"/>
              <a:buNone/>
            </a:pPr>
            <a:r>
              <a:rPr b="1" i="0" lang="es-ES" sz="2220" u="none" cap="small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predictivo de riesgo de sustitución laboral por Inteligencia Artificial usando características de ocupaciones y tendencias socioeconómicas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(caso Jalisco 2025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‑</a:t>
            </a: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2030).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2780"/>
              </a:buClr>
              <a:buSzPts val="1480"/>
              <a:buFont typeface="Arial"/>
              <a:buNone/>
            </a:pPr>
            <a:r>
              <a:rPr b="1" i="1" lang="es-ES" sz="1480" u="none" cap="small" strike="noStrike">
                <a:solidFill>
                  <a:srgbClr val="00278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Línea de generación y aplicación del conocimiento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2780"/>
              </a:buClr>
              <a:buSzPts val="1480"/>
              <a:buFont typeface="Arial"/>
              <a:buNone/>
            </a:pPr>
            <a:r>
              <a:rPr b="1" i="1" lang="es-ES" sz="1480" u="none" cap="small" strike="noStrike">
                <a:solidFill>
                  <a:srgbClr val="00278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SMART DATA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2780"/>
              </a:buClr>
              <a:buSzPts val="1295"/>
              <a:buFont typeface="Arial"/>
              <a:buNone/>
            </a:pPr>
            <a:r>
              <a:t/>
            </a:r>
            <a:endParaRPr b="0" i="0" sz="1850" u="none" cap="small" strike="noStrike">
              <a:solidFill>
                <a:srgbClr val="00278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1" sz="1800" u="none" cap="small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A logo with blue and red text&#10;&#10;AI-generated content may be incorrect.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0607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474198" y="-183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b="0" i="0" lang="es-ES" sz="4000" u="none" cap="small" strike="noStrike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I. Problemática y/o contexto del problema</a:t>
            </a:r>
            <a:endParaRPr/>
          </a:p>
        </p:txBody>
      </p:sp>
      <p:pic>
        <p:nvPicPr>
          <p:cNvPr descr="A blue and white logo&#10;&#10;AI-generated content may be incorrect." id="100" name="Google Shape;100;p2"/>
          <p:cNvPicPr preferRelativeResize="0"/>
          <p:nvPr/>
        </p:nvPicPr>
        <p:blipFill rotWithShape="1">
          <a:blip r:embed="rId4">
            <a:alphaModFix/>
          </a:blip>
          <a:srcRect b="17234" l="0" r="0" t="0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2"/>
          <p:cNvGrpSpPr/>
          <p:nvPr/>
        </p:nvGrpSpPr>
        <p:grpSpPr>
          <a:xfrm>
            <a:off x="265176" y="1201259"/>
            <a:ext cx="11116056" cy="4698540"/>
            <a:chOff x="0" y="104219"/>
            <a:chExt cx="11116056" cy="4698540"/>
          </a:xfrm>
        </p:grpSpPr>
        <p:sp>
          <p:nvSpPr>
            <p:cNvPr id="102" name="Google Shape;102;p2"/>
            <p:cNvSpPr/>
            <p:nvPr/>
          </p:nvSpPr>
          <p:spPr>
            <a:xfrm>
              <a:off x="0" y="104219"/>
              <a:ext cx="11116056" cy="52767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25759" y="129978"/>
              <a:ext cx="11064538" cy="476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1" i="0" lang="es-E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Planteamiento del problema y preguntas de investigación</a:t>
              </a:r>
              <a:endParaRPr b="0" i="0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0" y="631889"/>
              <a:ext cx="11116056" cy="2368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0" y="631889"/>
              <a:ext cx="11116056" cy="2368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925" lIns="352925" spcFirstLastPara="1" rIns="156450" wrap="square" tIns="279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 adopción acelerada de IA está transformando el empleo global. En México, sectores como manufactura y servicios enfrentan incertidumbre sobre qué ocupaciones serán sustituidas o transformadas. Sin herramientas locales, gobiernos y empresas carecen de datos para anticipar estos cambios. Se requiere un modelo predictivo, basado en datos del INEGI, que estime el riesgo de sustitución laboral en Jalisco (2025–2030).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1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Preguntas de Investigación: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¿Qué características ocupacionales están asociadas al riesgo de sustitución por IA?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¿Qué grupos poblacionales serían más vulnerables en Jalisco?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¿Qué sectores requieren mayor atención en políticas de reconversión laboral?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0" y="2999969"/>
              <a:ext cx="11116056" cy="52767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25759" y="3025728"/>
              <a:ext cx="11064538" cy="476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1" i="0" lang="es-E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Bases Teóricas: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0" y="3527639"/>
              <a:ext cx="11116056" cy="1275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3527639"/>
              <a:ext cx="11116056" cy="1275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925" lIns="352925" spcFirstLastPara="1" rIns="156450" wrap="square" tIns="279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1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Economía del trabajo</a:t>
              </a: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análisis de sustitución capital-trabajo y desplazamiento tecnológico.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1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Teoría de habilidades específicas vs. transferibles</a:t>
              </a: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ocupaciones con habilidades transferibles presentan menor riesgo de sustitución.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1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Modelos predictivos con machine learning:</a:t>
              </a: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clasificación supervisada con algoritmos como Random Forest o regresión logística, usados para estimar probabilidades de sustitución.Bases teóricas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1" sz="1800" u="none" cap="small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A logo with blue and red text&#10;&#10;AI-generated content may be incorrect.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0607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474198" y="-183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b="0" i="0" lang="es-ES" sz="4000" u="none" cap="small" strike="noStrike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I. Problemática y/o contexto del problema</a:t>
            </a:r>
            <a:endParaRPr b="0" i="0" sz="4000" u="none" cap="small" strike="noStrike">
              <a:solidFill>
                <a:srgbClr val="0027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white logo&#10;&#10;AI-generated content may be incorrect." id="117" name="Google Shape;117;p3"/>
          <p:cNvPicPr preferRelativeResize="0"/>
          <p:nvPr/>
        </p:nvPicPr>
        <p:blipFill rotWithShape="1">
          <a:blip r:embed="rId4">
            <a:alphaModFix/>
          </a:blip>
          <a:srcRect b="17234" l="0" r="0" t="0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3"/>
          <p:cNvGrpSpPr/>
          <p:nvPr/>
        </p:nvGrpSpPr>
        <p:grpSpPr>
          <a:xfrm>
            <a:off x="265176" y="1140014"/>
            <a:ext cx="11116056" cy="4821030"/>
            <a:chOff x="0" y="42974"/>
            <a:chExt cx="11116056" cy="4821030"/>
          </a:xfrm>
        </p:grpSpPr>
        <p:sp>
          <p:nvSpPr>
            <p:cNvPr id="119" name="Google Shape;119;p3"/>
            <p:cNvSpPr/>
            <p:nvPr/>
          </p:nvSpPr>
          <p:spPr>
            <a:xfrm>
              <a:off x="0" y="42974"/>
              <a:ext cx="11116056" cy="551655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 txBox="1"/>
            <p:nvPr/>
          </p:nvSpPr>
          <p:spPr>
            <a:xfrm>
              <a:off x="26930" y="69904"/>
              <a:ext cx="11062196" cy="497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b="1" i="0" lang="es-E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Objetivos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0" y="594629"/>
              <a:ext cx="11116056" cy="1475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 txBox="1"/>
            <p:nvPr/>
          </p:nvSpPr>
          <p:spPr>
            <a:xfrm>
              <a:off x="0" y="594629"/>
              <a:ext cx="11116056" cy="1475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50" lIns="352925" spcFirstLastPara="1" rIns="128000" wrap="square" tIns="228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s-E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Desarrollar un modelo predictivo para estimar el riesgo de sustitución laboral por IA en Jalisco entre 2025 y 2030.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s-E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Identificar variables clave de ocupaciones y contexto socioeconómico.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s-E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Aplicar técnicas de </a:t>
              </a:r>
              <a:r>
                <a:rPr b="0" i="1" lang="es-E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machine learning </a:t>
              </a:r>
              <a:r>
                <a:rPr b="0" i="0" lang="es-E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sobre datos del INEGI.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s-E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Clasificar ocupaciones según su nivel de riesgo.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0" y="2333855"/>
              <a:ext cx="11116056" cy="551655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26930" y="2360785"/>
              <a:ext cx="11062196" cy="497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b="1" i="0" lang="es-E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Hipótesis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0" y="2622194"/>
              <a:ext cx="11116056" cy="8569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 txBox="1"/>
            <p:nvPr/>
          </p:nvSpPr>
          <p:spPr>
            <a:xfrm>
              <a:off x="0" y="2622194"/>
              <a:ext cx="11116056" cy="8569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9200" lIns="352925" spcFirstLastPara="1" rIns="163575" wrap="square" tIns="29200">
              <a:noAutofit/>
            </a:bodyPr>
            <a:lstStyle/>
            <a:p>
              <a:pPr indent="-571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es-E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Las ocupaciones con baja calificación técnica, alta repetitividad y menor escolaridad presentan mayor riesgo de ser sustituidas por IA.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0" y="3479174"/>
              <a:ext cx="11116056" cy="551655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26930" y="3506104"/>
              <a:ext cx="11062196" cy="497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b="1" i="0" lang="es-E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Justificación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0" y="4030829"/>
              <a:ext cx="11116056" cy="833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0" y="4030829"/>
              <a:ext cx="11116056" cy="833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9200" lIns="352925" spcFirstLastPara="1" rIns="163575" wrap="square" tIns="292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es-E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Este modelo ofrecerá una herramienta práctica para gobiernos, empresas y trabajadores que facilite la planeación de políticas públicas, reconversión laboral y estrategias educativas ante los efectos de la automatización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1" sz="1800" u="none" cap="small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A logo with blue and red text&#10;&#10;AI-generated content may be incorrect."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0607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 txBox="1"/>
          <p:nvPr/>
        </p:nvSpPr>
        <p:spPr>
          <a:xfrm>
            <a:off x="474198" y="-183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b="0" i="0" lang="es-ES" sz="4000" u="none" cap="small" strike="noStrike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II. Marco teórico</a:t>
            </a:r>
            <a:endParaRPr/>
          </a:p>
        </p:txBody>
      </p:sp>
      <p:pic>
        <p:nvPicPr>
          <p:cNvPr descr="A blue and white logo&#10;&#10;AI-generated content may be incorrect." id="138" name="Google Shape;138;p4"/>
          <p:cNvPicPr preferRelativeResize="0"/>
          <p:nvPr/>
        </p:nvPicPr>
        <p:blipFill rotWithShape="1">
          <a:blip r:embed="rId4">
            <a:alphaModFix/>
          </a:blip>
          <a:srcRect b="17234" l="0" r="0" t="0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4"/>
          <p:cNvGrpSpPr/>
          <p:nvPr/>
        </p:nvGrpSpPr>
        <p:grpSpPr>
          <a:xfrm>
            <a:off x="265176" y="1218134"/>
            <a:ext cx="11116056" cy="4664790"/>
            <a:chOff x="0" y="121094"/>
            <a:chExt cx="11116056" cy="4664790"/>
          </a:xfrm>
        </p:grpSpPr>
        <p:sp>
          <p:nvSpPr>
            <p:cNvPr id="140" name="Google Shape;140;p4"/>
            <p:cNvSpPr/>
            <p:nvPr/>
          </p:nvSpPr>
          <p:spPr>
            <a:xfrm>
              <a:off x="0" y="121094"/>
              <a:ext cx="11116056" cy="62361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30442" y="151536"/>
              <a:ext cx="11055172" cy="5627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1" i="0" lang="es-E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Antecedentes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0" y="744704"/>
              <a:ext cx="11116056" cy="1829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0" y="744704"/>
              <a:ext cx="11116056" cy="1829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00" lIns="352925" spcFirstLastPara="1" rIns="184900" wrap="square" tIns="330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1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 Frey &amp; Osborne (2013): </a:t>
              </a: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Desarrollaron un modelo para estimar la probabilidad de automatización de 702 ocupaciones en EE. UU., basado en tareas rutinarias y no rutinarias, combinando análisis de expertos y </a:t>
              </a:r>
              <a:r>
                <a:rPr b="0" i="1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machine learning</a:t>
              </a: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Su enfoque ha sido replicado y adaptado en diversos países.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 </a:t>
              </a:r>
              <a:r>
                <a:rPr b="1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OCDE (2016): </a:t>
              </a: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Propuso un enfoque alternativo que mide el riesgo de automatización a nivel de tareas, utilizando microdatos de encuestas laborales. Resaltando que el riesgo varía incluso dentro de una misma ocupación.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0" y="2574584"/>
              <a:ext cx="11116056" cy="62361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30442" y="2605026"/>
              <a:ext cx="11055172" cy="5627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1" i="0" lang="es-E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Bases Teóricas: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0" y="3198194"/>
              <a:ext cx="11116056" cy="1587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4"/>
            <p:cNvSpPr txBox="1"/>
            <p:nvPr/>
          </p:nvSpPr>
          <p:spPr>
            <a:xfrm>
              <a:off x="0" y="3198194"/>
              <a:ext cx="11116056" cy="1587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00" lIns="352925" spcFirstLastPara="1" rIns="184900" wrap="square" tIns="330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1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Economía del trabajo</a:t>
              </a: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análisis de sustitución capital-trabajo y desplazamiento tecnológico.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1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Teoría de habilidades específicas vs. transferibles</a:t>
              </a: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ocupaciones con habilidades transferibles presentan menor riesgo de sustitución.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1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Modelos predictivos con machine learning:</a:t>
              </a: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clasificación supervisada con algoritmos como Random Forest o regresión logística, usados para estimar probabilidades de sustitución.Bases teóricas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1" sz="1800" u="none" cap="small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A logo with blue and red text&#10;&#10;AI-generated content may be incorrect." id="153" name="Google Shape;1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0607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 txBox="1"/>
          <p:nvPr/>
        </p:nvSpPr>
        <p:spPr>
          <a:xfrm>
            <a:off x="474198" y="-183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b="0" i="0" lang="es-ES" sz="4000" u="none" cap="small" strike="noStrike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III. Contexto metodológico</a:t>
            </a:r>
            <a:endParaRPr/>
          </a:p>
        </p:txBody>
      </p:sp>
      <p:pic>
        <p:nvPicPr>
          <p:cNvPr descr="A blue and white logo&#10;&#10;AI-generated content may be incorrect." id="155" name="Google Shape;155;p5"/>
          <p:cNvPicPr preferRelativeResize="0"/>
          <p:nvPr/>
        </p:nvPicPr>
        <p:blipFill rotWithShape="1">
          <a:blip r:embed="rId4">
            <a:alphaModFix/>
          </a:blip>
          <a:srcRect b="17234" l="0" r="0" t="0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p5"/>
          <p:cNvGrpSpPr/>
          <p:nvPr/>
        </p:nvGrpSpPr>
        <p:grpSpPr>
          <a:xfrm>
            <a:off x="265176" y="1321274"/>
            <a:ext cx="11116056" cy="4458510"/>
            <a:chOff x="0" y="224234"/>
            <a:chExt cx="11116056" cy="4458510"/>
          </a:xfrm>
        </p:grpSpPr>
        <p:sp>
          <p:nvSpPr>
            <p:cNvPr id="157" name="Google Shape;157;p5"/>
            <p:cNvSpPr/>
            <p:nvPr/>
          </p:nvSpPr>
          <p:spPr>
            <a:xfrm>
              <a:off x="0" y="224234"/>
              <a:ext cx="11116056" cy="33579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16392" y="240626"/>
              <a:ext cx="11083272" cy="303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i="0" lang="es-E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de Fuentes y Normalización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0" y="560024"/>
              <a:ext cx="11116056" cy="565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 txBox="1"/>
            <p:nvPr/>
          </p:nvSpPr>
          <p:spPr>
            <a:xfrm>
              <a:off x="0" y="560024"/>
              <a:ext cx="11116056" cy="565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775" lIns="352925" spcFirstLastPara="1" rIns="99550" wrap="square" tIns="17775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Vinculación entre códigos ocupacionales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CNO-INEGI(México)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ISCO-08(Datos de normalización)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y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O*NET 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-&gt;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SOC 2019 (EE. UU.)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1" marL="5715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Estandarización de variables para lograr comparabilidad internacional.</a:t>
              </a:r>
              <a:endParaRPr/>
            </a:p>
            <a:p>
              <a:pPr indent="-69850" lvl="1" marL="5715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Fusión de datos de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INEGI, O*NET, WEF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y estudios recientes sobre automatización.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0" y="1125134"/>
              <a:ext cx="11116056" cy="33579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5"/>
            <p:cNvSpPr txBox="1"/>
            <p:nvPr/>
          </p:nvSpPr>
          <p:spPr>
            <a:xfrm>
              <a:off x="16392" y="1141526"/>
              <a:ext cx="11083272" cy="303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i="0" lang="es-E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Variables e Índices Avanzados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0" y="1460924"/>
              <a:ext cx="11116056" cy="1072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0" y="1460924"/>
              <a:ext cx="11116056" cy="1072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775" lIns="352925" spcFirstLastPara="1" rIns="99550" wrap="square" tIns="17775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Índice de Rutina (RTI):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la cual mide tareas repetitivas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1" marL="5715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Creativity Score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y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Destreza Manual Index: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estiman dificultad de automatización de cada trabajo.</a:t>
              </a:r>
              <a:endParaRPr/>
            </a:p>
            <a:p>
              <a:pPr indent="-69850" lvl="1" marL="5715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Para reflejar el impacto de tecnologías recientes como GPT‑4, Claude o Copilot, se incorporarán nuevos indicadores relacionados con IA generativa, actualmente en desarrollo. Estos permitirán capturar riesgos que van más allá del enfoque tradicional de automatización.</a:t>
              </a:r>
              <a:endParaRPr/>
            </a:p>
            <a:p>
              <a:pPr indent="-69850" lvl="1" marL="5715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Ejemplo: LLM Task Similarity Score: 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Este indicador mide la similitud entre las tareas de una ocupación y las capacidades actuales de modelos de lenguaje (LLMs). A mayor similitud, mayor es el riesgo de que dicha ocupación pueda ser automatizada por IA generativa. Esto es especialmente relevante en trabajos administrativos, creativos o analíticos.</a:t>
              </a: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0" y="2533184"/>
              <a:ext cx="11116056" cy="33579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5"/>
            <p:cNvSpPr txBox="1"/>
            <p:nvPr/>
          </p:nvSpPr>
          <p:spPr>
            <a:xfrm>
              <a:off x="16392" y="2549576"/>
              <a:ext cx="11083272" cy="303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i="0" lang="es-E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Herramientas</a:t>
              </a: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0" y="2868974"/>
              <a:ext cx="11116056" cy="37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5"/>
            <p:cNvSpPr txBox="1"/>
            <p:nvPr/>
          </p:nvSpPr>
          <p:spPr>
            <a:xfrm>
              <a:off x="0" y="2868974"/>
              <a:ext cx="11116056" cy="37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775" lIns="352925" spcFirstLastPara="1" rIns="99550" wrap="square" tIns="17775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Python – Algoritmos (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Pandas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scikit‑learn, matplotlib, pyjanitor)</a:t>
              </a:r>
              <a:endPara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1" marL="5715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Optuna – Framework de optimización</a:t>
              </a: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0" y="3261264"/>
              <a:ext cx="11116056" cy="33579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5"/>
            <p:cNvSpPr txBox="1"/>
            <p:nvPr/>
          </p:nvSpPr>
          <p:spPr>
            <a:xfrm>
              <a:off x="16392" y="3277656"/>
              <a:ext cx="11083272" cy="303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i="0" lang="es-E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Modelado Predictivo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0" y="3581504"/>
              <a:ext cx="11116056" cy="1101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5"/>
            <p:cNvSpPr txBox="1"/>
            <p:nvPr/>
          </p:nvSpPr>
          <p:spPr>
            <a:xfrm>
              <a:off x="0" y="3581504"/>
              <a:ext cx="11116056" cy="1101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775" lIns="352925" spcFirstLastPara="1" rIns="99550" wrap="square" tIns="17775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Para estimar el riesgo de sustitución laboral por IA, se utilizará un enfoque de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aprendizaje supervisado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basado en algoritmos de clasificación. El objetivo es predecir la probabilidad de automatización de cada ocupación, a partir de sus características (nivel de rutina, creatividad, habilidades técnicas, etc.).</a:t>
              </a:r>
              <a:endParaRPr/>
            </a:p>
            <a:p>
              <a:pPr indent="-69850" lvl="1" marL="5715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Algoritmos principales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2" marL="11430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Regresión Logística: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modelo estadístico tradicional para clasificación binaria o probabilística.</a:t>
              </a:r>
              <a:endParaRPr/>
            </a:p>
            <a:p>
              <a:pPr indent="-69850" lvl="2" marL="11430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Random Forest: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método basado en múltiples árboles de decisión que mejora la precisión mediante votación.</a:t>
              </a:r>
              <a:endParaRPr/>
            </a:p>
            <a:p>
              <a:pPr indent="-69850" lvl="2" marL="11430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LightGBM: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algoritmo de gradiente optimizado para alto rendimiento, ideal para conjuntos de datos estructurados.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1" sz="1800" u="none" cap="small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467752" y="-192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b="0" i="0" lang="es-ES" sz="4000" u="none" cap="small" strike="noStrike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IV. Resultados esperados</a:t>
            </a:r>
            <a:endParaRPr/>
          </a:p>
        </p:txBody>
      </p:sp>
      <p:pic>
        <p:nvPicPr>
          <p:cNvPr descr="A logo with blue and red text&#10;&#10;AI-generated content may be incorrect." id="179" name="Google Shape;17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2684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logo&#10;&#10;AI-generated content may be incorrect." id="180" name="Google Shape;180;p6"/>
          <p:cNvPicPr preferRelativeResize="0"/>
          <p:nvPr/>
        </p:nvPicPr>
        <p:blipFill rotWithShape="1">
          <a:blip r:embed="rId4">
            <a:alphaModFix/>
          </a:blip>
          <a:srcRect b="17234" l="0" r="0" t="0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6"/>
          <p:cNvGrpSpPr/>
          <p:nvPr/>
        </p:nvGrpSpPr>
        <p:grpSpPr>
          <a:xfrm>
            <a:off x="563665" y="1475321"/>
            <a:ext cx="10302771" cy="3466251"/>
            <a:chOff x="1283" y="62227"/>
            <a:chExt cx="10302771" cy="3466251"/>
          </a:xfrm>
        </p:grpSpPr>
        <p:sp>
          <p:nvSpPr>
            <p:cNvPr id="182" name="Google Shape;182;p6"/>
            <p:cNvSpPr/>
            <p:nvPr/>
          </p:nvSpPr>
          <p:spPr>
            <a:xfrm>
              <a:off x="1052586" y="484017"/>
              <a:ext cx="841042" cy="71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1944092" y="413405"/>
              <a:ext cx="96719" cy="181664"/>
            </a:xfrm>
            <a:prstGeom prst="chevron">
              <a:avLst>
                <a:gd fmla="val 90000" name="adj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525631" y="62227"/>
              <a:ext cx="843651" cy="843651"/>
            </a:xfrm>
            <a:prstGeom prst="ellipse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6"/>
            <p:cNvSpPr txBox="1"/>
            <p:nvPr/>
          </p:nvSpPr>
          <p:spPr>
            <a:xfrm>
              <a:off x="649181" y="185777"/>
              <a:ext cx="596551" cy="596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725" lIns="32725" spcFirstLastPara="1" rIns="32725" wrap="square" tIns="327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None/>
              </a:pPr>
              <a:r>
                <a:rPr b="0" i="0" lang="es-ES" sz="3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1283" y="1071478"/>
              <a:ext cx="1892345" cy="2457000"/>
            </a:xfrm>
            <a:prstGeom prst="upArrowCallout">
              <a:avLst>
                <a:gd fmla="val 50000" name="adj1"/>
                <a:gd fmla="val 20000" name="adj2"/>
                <a:gd fmla="val 20000" name="adj3"/>
                <a:gd fmla="val 100000" name="adj4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6"/>
            <p:cNvSpPr txBox="1"/>
            <p:nvPr/>
          </p:nvSpPr>
          <p:spPr>
            <a:xfrm>
              <a:off x="1283" y="1449947"/>
              <a:ext cx="1892345" cy="2078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5100" lIns="149250" spcFirstLastPara="1" rIns="1492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Modelo predictivo funcional y validado</a:t>
              </a:r>
              <a:b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 modelo que estime con alta precisión el riesgo de sustitución laboral por Inteligencia Artificial, adaptado al contexto mexicano (caso Jalisco 2025–2030), con base en datos del INEGI y mapeo con O*NET.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2103890" y="484017"/>
              <a:ext cx="1892345" cy="72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4046698" y="413405"/>
              <a:ext cx="96719" cy="181665"/>
            </a:xfrm>
            <a:prstGeom prst="chevron">
              <a:avLst>
                <a:gd fmla="val 90000" name="adj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2628237" y="62227"/>
              <a:ext cx="843651" cy="843651"/>
            </a:xfrm>
            <a:prstGeom prst="ellipse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6"/>
            <p:cNvSpPr txBox="1"/>
            <p:nvPr/>
          </p:nvSpPr>
          <p:spPr>
            <a:xfrm>
              <a:off x="2751787" y="185777"/>
              <a:ext cx="596551" cy="596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725" lIns="32725" spcFirstLastPara="1" rIns="32725" wrap="square" tIns="327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None/>
              </a:pPr>
              <a:r>
                <a:rPr b="0" i="0" lang="es-ES" sz="3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3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2103890" y="1071478"/>
              <a:ext cx="1892345" cy="2457000"/>
            </a:xfrm>
            <a:prstGeom prst="upArrowCallout">
              <a:avLst>
                <a:gd fmla="val 50000" name="adj1"/>
                <a:gd fmla="val 20000" name="adj2"/>
                <a:gd fmla="val 20000" name="adj3"/>
                <a:gd fmla="val 100000" name="adj4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6"/>
            <p:cNvSpPr txBox="1"/>
            <p:nvPr/>
          </p:nvSpPr>
          <p:spPr>
            <a:xfrm>
              <a:off x="2103890" y="1449947"/>
              <a:ext cx="1892345" cy="2078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5100" lIns="149250" spcFirstLastPara="1" rIns="1492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Clasificación de ocupaciones por nivel de riesgo</a:t>
              </a:r>
              <a:b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Una lista detallada de ocupaciones agrupadas en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alto, medio y bajo riesgo de automatización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útil para orientar decisiones de política pública, reconversión laboral y formación técnica.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4206496" y="484017"/>
              <a:ext cx="1892345" cy="72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6149305" y="413405"/>
              <a:ext cx="96719" cy="181665"/>
            </a:xfrm>
            <a:prstGeom prst="chevron">
              <a:avLst>
                <a:gd fmla="val 90000" name="adj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4730844" y="62227"/>
              <a:ext cx="843651" cy="843651"/>
            </a:xfrm>
            <a:prstGeom prst="ellipse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6"/>
            <p:cNvSpPr txBox="1"/>
            <p:nvPr/>
          </p:nvSpPr>
          <p:spPr>
            <a:xfrm>
              <a:off x="4854394" y="185777"/>
              <a:ext cx="596551" cy="596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725" lIns="32725" spcFirstLastPara="1" rIns="32725" wrap="square" tIns="327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None/>
              </a:pPr>
              <a:r>
                <a:rPr b="0" i="0" lang="es-ES" sz="3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4206496" y="1071478"/>
              <a:ext cx="1892345" cy="2457000"/>
            </a:xfrm>
            <a:prstGeom prst="upArrowCallout">
              <a:avLst>
                <a:gd fmla="val 50000" name="adj1"/>
                <a:gd fmla="val 20000" name="adj2"/>
                <a:gd fmla="val 20000" name="adj3"/>
                <a:gd fmla="val 100000" name="adj4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4206496" y="1449947"/>
              <a:ext cx="1892345" cy="2078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5100" lIns="149250" spcFirstLastPara="1" rIns="1492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Identificación de factores clave</a:t>
              </a:r>
              <a:b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Insights claros sobre qué características (ej. nivel de rutina, creatividad, destrezas manuales, exposición a IA generativa) explican el riesgo de sustitución en distintas ocupaciones.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6309103" y="484017"/>
              <a:ext cx="1892345" cy="72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8251911" y="413405"/>
              <a:ext cx="96719" cy="181665"/>
            </a:xfrm>
            <a:prstGeom prst="chevron">
              <a:avLst>
                <a:gd fmla="val 90000" name="adj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6833450" y="62227"/>
              <a:ext cx="843651" cy="843651"/>
            </a:xfrm>
            <a:prstGeom prst="ellipse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6"/>
            <p:cNvSpPr txBox="1"/>
            <p:nvPr/>
          </p:nvSpPr>
          <p:spPr>
            <a:xfrm>
              <a:off x="6957000" y="185777"/>
              <a:ext cx="596551" cy="596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725" lIns="32725" spcFirstLastPara="1" rIns="32725" wrap="square" tIns="327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None/>
              </a:pPr>
              <a:r>
                <a:rPr b="0" i="0" lang="es-ES" sz="3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6309103" y="1071478"/>
              <a:ext cx="1892345" cy="2457000"/>
            </a:xfrm>
            <a:prstGeom prst="upArrowCallout">
              <a:avLst>
                <a:gd fmla="val 50000" name="adj1"/>
                <a:gd fmla="val 20000" name="adj2"/>
                <a:gd fmla="val 20000" name="adj3"/>
                <a:gd fmla="val 100000" name="adj4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6309103" y="1449947"/>
              <a:ext cx="1892345" cy="2078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5100" lIns="149250" spcFirstLastPara="1" rIns="1492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Incorporación de nuevos indicadores</a:t>
              </a:r>
              <a:b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Inclusión y prueba de métricas emergentes como el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LLM Task Similarity Score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permitiendo capturar riesgos derivados de modelos como GPT‑4 y herramientas similares.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8411709" y="484016"/>
              <a:ext cx="946172" cy="72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8936057" y="62227"/>
              <a:ext cx="843651" cy="843651"/>
            </a:xfrm>
            <a:prstGeom prst="ellipse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9059607" y="185777"/>
              <a:ext cx="596551" cy="596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725" lIns="32725" spcFirstLastPara="1" rIns="32725" wrap="square" tIns="327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None/>
              </a:pPr>
              <a:r>
                <a:rPr b="0" i="0" lang="es-ES" sz="3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8411709" y="1071478"/>
              <a:ext cx="1892345" cy="2457000"/>
            </a:xfrm>
            <a:prstGeom prst="upArrowCallout">
              <a:avLst>
                <a:gd fmla="val 50000" name="adj1"/>
                <a:gd fmla="val 20000" name="adj2"/>
                <a:gd fmla="val 20000" name="adj3"/>
                <a:gd fmla="val 100000" name="adj4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6"/>
            <p:cNvSpPr txBox="1"/>
            <p:nvPr/>
          </p:nvSpPr>
          <p:spPr>
            <a:xfrm>
              <a:off x="8411709" y="1449947"/>
              <a:ext cx="1892345" cy="2078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5100" lIns="149250" spcFirstLastPara="1" rIns="1492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Herramienta visual o dashboard interactivo</a:t>
              </a:r>
              <a:b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 prototipo de aplicación web que permita consultar de forma simple el riesgo de automatización por ocupación, facilitando el uso del modelo por parte de instituciones educativas, empresas o gobiernos.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1" sz="1800" u="none" cap="small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5600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b="0" i="0" lang="es-ES" sz="4000" u="none" cap="small" strike="noStrike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/>
          </a:p>
        </p:txBody>
      </p:sp>
      <p:pic>
        <p:nvPicPr>
          <p:cNvPr id="217" name="Google Shape;2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2684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7"/>
          <p:cNvPicPr preferRelativeResize="0"/>
          <p:nvPr/>
        </p:nvPicPr>
        <p:blipFill rotWithShape="1">
          <a:blip r:embed="rId4">
            <a:alphaModFix/>
          </a:blip>
          <a:srcRect b="17234" l="0" r="0" t="0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 txBox="1"/>
          <p:nvPr/>
        </p:nvSpPr>
        <p:spPr>
          <a:xfrm>
            <a:off x="706315" y="1325562"/>
            <a:ext cx="10515600" cy="5062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" name="Google Shape;220;p7"/>
          <p:cNvGraphicFramePr/>
          <p:nvPr/>
        </p:nvGraphicFramePr>
        <p:xfrm>
          <a:off x="121685" y="1262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{6908C3E7-59CD-4291-B1E9-87A5D1F1BDEB}</a:tableStyleId>
              </a:tblPr>
              <a:tblGrid>
                <a:gridCol w="1859550"/>
                <a:gridCol w="2210950"/>
                <a:gridCol w="2236375"/>
                <a:gridCol w="2515925"/>
                <a:gridCol w="3125850"/>
              </a:tblGrid>
              <a:tr h="548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Etapa / Actividad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2025B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2026A 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2026B  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2027A  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Revisión de literatura y antecedentes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Agosto – Septiembre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Correción de marco teórico y definición metodológica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Septiembre – Octubre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43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Obtención y limpieza de datos (INEGI, O*NET)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Octubre– Noviembre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Mapeo y normalización de ocupaciones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Noviembre – Enero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Cálculo de índices (RTI, Creativity, etc.)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Feb–Mar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43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Incorporación de indicadores emergentes de IA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Mar–Abr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Desarrollo y entrenamiento de modelos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May–Jul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Ago–Sep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Evaluación y validación del modelo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Sep–Nov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Visualización y desarrollo del dashboard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Nov–Ene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43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Redacción de resultados y análisis de impacto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Ene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Feb–Mar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43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Escritura y revisión del documento final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Mar–Jun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Presentación y defensa del trabajo de tesis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Jul 2027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1" sz="1800" u="none" cap="small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5600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b="0" i="0" lang="es-ES" sz="4000" u="none" cap="small" strike="noStrike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/>
          </a:p>
        </p:txBody>
      </p:sp>
      <p:pic>
        <p:nvPicPr>
          <p:cNvPr id="227" name="Google Shape;2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2684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8"/>
          <p:cNvPicPr preferRelativeResize="0"/>
          <p:nvPr/>
        </p:nvPicPr>
        <p:blipFill rotWithShape="1">
          <a:blip r:embed="rId4">
            <a:alphaModFix/>
          </a:blip>
          <a:srcRect b="17234" l="0" r="0" t="0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"/>
          <p:cNvSpPr txBox="1"/>
          <p:nvPr/>
        </p:nvSpPr>
        <p:spPr>
          <a:xfrm>
            <a:off x="706315" y="2546030"/>
            <a:ext cx="10515600" cy="3696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Carlos Pulido Rosas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Más información acerca de este tema: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 de contacto: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+52 3310305580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carlos.pulido.rosas@gmail.com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2021-11-10T18:45:26Z</dcterms:created>
  <dc:creator>MCD</dc:creator>
</cp:coreProperties>
</file>