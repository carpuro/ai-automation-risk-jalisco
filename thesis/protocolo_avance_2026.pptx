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Cambria Math"/>
      <p:regular r:id="rId14"/>
    </p:embeddedFont>
    <p:embeddedFont>
      <p:font typeface="Century Gothic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ghuCtx2zBjcZP2zPfIDbDIRvP++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908C3E7-59CD-4291-B1E9-87A5D1F1BDEB}">
  <a:tblStyle styleId="{6908C3E7-59CD-4291-B1E9-87A5D1F1BDE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font" Target="fonts/CambriaMath-regular.fntdata"/><Relationship Id="rId15" Type="http://schemas.openxmlformats.org/officeDocument/2006/relationships/font" Target="fonts/CenturyGothic-regular.fntdata"/><Relationship Id="rId16" Type="http://schemas.openxmlformats.org/officeDocument/2006/relationships/font" Target="fonts/CenturyGothic-bold.fntdata"/><Relationship Id="rId17" Type="http://schemas.openxmlformats.org/officeDocument/2006/relationships/font" Target="fonts/CenturyGothic-italic.fntdata"/><Relationship Id="rId18" Type="http://schemas.openxmlformats.org/officeDocument/2006/relationships/font" Target="fonts/CenturyGothic-boldItalic.fntdata"/><Relationship Id="rId19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3" name="Google Shape;21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23" name="Google Shape;22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305740" y="884744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80"/>
              </a:buClr>
              <a:buSzPts val="6000"/>
              <a:buFont typeface="Century Gothic"/>
              <a:buNone/>
            </a:pPr>
            <a:r>
              <a:rPr lang="es-ES" sz="4400" cap="small">
                <a:solidFill>
                  <a:srgbClr val="002780"/>
                </a:solidFill>
                <a:latin typeface="Calibri"/>
                <a:ea typeface="Calibri"/>
                <a:cs typeface="Calibri"/>
                <a:sym typeface="Calibri"/>
              </a:rPr>
              <a:t>Presentación de Proyectos</a:t>
            </a:r>
            <a:br>
              <a:rPr lang="es-ES" sz="4400" cap="small">
                <a:solidFill>
                  <a:srgbClr val="00278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4400" cap="small">
                <a:solidFill>
                  <a:srgbClr val="002780"/>
                </a:solidFill>
                <a:latin typeface="Calibri"/>
                <a:ea typeface="Calibri"/>
                <a:cs typeface="Calibri"/>
                <a:sym typeface="Calibri"/>
              </a:rPr>
              <a:t>Aspirantes 2025B</a:t>
            </a:r>
            <a:br>
              <a:rPr lang="es-ES" sz="4800" cap="small">
                <a:solidFill>
                  <a:srgbClr val="002780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1" lang="es-ES" sz="2800" cap="small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Maestría en ciencias de los datos</a:t>
            </a:r>
            <a:br>
              <a:rPr lang="es-ES" sz="2800" cap="small">
                <a:solidFill>
                  <a:srgbClr val="00278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2000" cap="small">
                <a:solidFill>
                  <a:srgbClr val="002780"/>
                </a:solidFill>
                <a:latin typeface="Calibri"/>
                <a:ea typeface="Calibri"/>
                <a:cs typeface="Calibri"/>
                <a:sym typeface="Calibri"/>
              </a:rPr>
              <a:t>Centro Universitario de Ciencias Económico-Administrativas</a:t>
            </a:r>
            <a:endParaRPr cap="small">
              <a:solidFill>
                <a:srgbClr val="0027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7643191" y="6310289"/>
            <a:ext cx="40551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Avance de tesis — junio de 2026</a:t>
            </a: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0371" y="213692"/>
            <a:ext cx="1976470" cy="758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39" y="361554"/>
            <a:ext cx="2931055" cy="66873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1305740" y="3063275"/>
            <a:ext cx="9144000" cy="31069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  <a:p/>
          <a:p>
            <a:r>
              <a:rPr sz="1600"/>
              <a:t>Carlos Pulido Rosas</a:t>
            </a:r>
          </a:p>
          <a:p/>
          <a:p>
            <a:r>
              <a:rPr sz="1600"/>
              <a:t>«Riesgo de automatización laboral por inteligencia artificial en Jalisco: exposición cognitiva y encarnada, incentivo económico y proyección 2025–2030»</a:t>
            </a:r>
          </a:p>
          <a:p/>
          <a:p>
            <a:r>
              <a:rPr sz="1600"/>
              <a:t>(caso Jalisco)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/>
        </p:nvSpPr>
        <p:spPr>
          <a:xfrm>
            <a:off x="7643191" y="6310289"/>
            <a:ext cx="40551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sz="1100"/>
              <a:t>• La IA no es una tecnología: son DOS fronteras — la cognitiva (modelos de lenguaje) y la encarnada (robots, drones, máquinas autónomas) — con física, costos, canales de difusión y víctimas distintas.</a:t>
            </a:r>
            <a:endParaRPr b="0" i="1" sz="1800" u="none" cap="small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>
              <a:spcAft>
                <a:spcPts val="600"/>
              </a:spcAft>
            </a:pPr>
            <a:r>
              <a:rPr sz="1100"/>
              <a:t>• Jalisco las enfrenta a la vez: polo de servicios modernos (Guadalajara tech) y corredor industrial-agroalimentario que el nearshoring expande.</a:t>
            </a:r>
          </a:p>
          <a:p>
            <a:pPr>
              <a:spcAft>
                <a:spcPts val="600"/>
              </a:spcAft>
            </a:pPr>
            <a:r>
              <a:rPr sz="1100"/>
              <a:t>• El 55% del empleo es informal: la misma exposición, sin red alguna de protección (sin IMSS, sin indemnización).</a:t>
            </a:r>
          </a:p>
          <a:p>
            <a:pPr>
              <a:spcAft>
                <a:spcPts val="600"/>
              </a:spcAft>
            </a:pPr>
            <a:r>
              <a:rPr sz="1100"/>
              <a:t>• El debate público pregunta «¿cuántos empleos destruirá la IA?» — una pregunta mal planteada que no distingue frontera, incentivo económico ni protección social.</a:t>
            </a:r>
          </a:p>
        </p:txBody>
      </p:sp>
      <p:pic>
        <p:nvPicPr>
          <p:cNvPr descr="A logo with blue and red text&#10;&#10;AI-generated content may be incorrect." id="98" name="Google Shape;9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0607" y="6182398"/>
            <a:ext cx="1761393" cy="675602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/>
          <p:nvPr/>
        </p:nvSpPr>
        <p:spPr>
          <a:xfrm>
            <a:off x="474198" y="-18347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80"/>
              </a:buClr>
              <a:buSzPts val="4000"/>
              <a:buFont typeface="Calibri"/>
              <a:buNone/>
            </a:pPr>
            <a:r>
              <a:rPr b="0" i="0" lang="es-ES" sz="4000" u="none" cap="small" strike="noStrike">
                <a:solidFill>
                  <a:srgbClr val="002780"/>
                </a:solidFill>
                <a:latin typeface="Calibri"/>
                <a:ea typeface="Calibri"/>
                <a:cs typeface="Calibri"/>
                <a:sym typeface="Calibri"/>
              </a:rPr>
              <a:t>Capítulo I. Problemática y/o contexto del problema</a:t>
            </a:r>
            <a:endParaRPr/>
          </a:p>
        </p:txBody>
      </p:sp>
      <p:pic>
        <p:nvPicPr>
          <p:cNvPr descr="A blue and white logo&#10;&#10;AI-generated content may be incorrect." id="100" name="Google Shape;100;p2"/>
          <p:cNvPicPr preferRelativeResize="0"/>
          <p:nvPr/>
        </p:nvPicPr>
        <p:blipFill rotWithShape="1">
          <a:blip r:embed="rId4">
            <a:alphaModFix/>
          </a:blip>
          <a:srcRect b="17234" l="0" r="0" t="0"/>
          <a:stretch/>
        </p:blipFill>
        <p:spPr>
          <a:xfrm>
            <a:off x="87923" y="6211299"/>
            <a:ext cx="2580521" cy="6177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2"/>
          <p:cNvGrpSpPr/>
          <p:nvPr/>
        </p:nvGrpSpPr>
        <p:grpSpPr>
          <a:xfrm>
            <a:off x="265176" y="1201259"/>
            <a:ext cx="11116056" cy="4698540"/>
            <a:chOff x="0" y="104219"/>
            <a:chExt cx="11116056" cy="4698540"/>
          </a:xfrm>
        </p:grpSpPr>
        <p:sp>
          <p:nvSpPr>
            <p:cNvPr id="102" name="Google Shape;102;p2"/>
            <p:cNvSpPr/>
            <p:nvPr/>
          </p:nvSpPr>
          <p:spPr>
            <a:xfrm>
              <a:off x="0" y="104219"/>
              <a:ext cx="11116056" cy="527670"/>
            </a:xfrm>
            <a:prstGeom prst="roundRect">
              <a:avLst>
                <a:gd fmla="val 16667" name="adj"/>
              </a:avLst>
            </a:prstGeom>
            <a:solidFill>
              <a:srgbClr val="599BD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25759" y="129978"/>
              <a:ext cx="11064538" cy="476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b="1" i="0" lang="es-ES" sz="2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Planteamiento del problema y preguntas de investigación</a:t>
              </a:r>
              <a:endParaRPr b="0" i="0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0" y="631889"/>
              <a:ext cx="11116056" cy="2368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0" y="631889"/>
              <a:ext cx="11116056" cy="2368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925" lIns="352925" spcFirstLastPara="1" rIns="156450" wrap="square" tIns="2792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0" i="0" lang="es-E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La adopción acelerada de IA está transformando el empleo global. En México, sectores como manufactura y servicios enfrentan incertidumbre sobre qué ocupaciones serán sustituidas o transformadas. Sin herramientas locales, gobiernos y empresas carecen de datos para anticipar estos cambios. Se requiere un modelo predictivo, basado en datos del INEGI, que estime el riesgo de sustitución laboral en Jalisco (2025–2030).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4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Char char="•"/>
              </a:pPr>
              <a:r>
                <a:rPr b="1" i="0" lang="es-E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Preguntas de Investigación: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2" marL="342900" marR="0" rtl="0" algn="l">
                <a:lnSpc>
                  <a:spcPct val="90000"/>
                </a:lnSpc>
                <a:spcBef>
                  <a:spcPts val="34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Char char="•"/>
              </a:pPr>
              <a:r>
                <a:rPr b="0" i="0" lang="es-E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¿Qué características ocupacionales están asociadas al riesgo de sustitución por IA?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2" marL="342900" marR="0" rtl="0" algn="l">
                <a:lnSpc>
                  <a:spcPct val="90000"/>
                </a:lnSpc>
                <a:spcBef>
                  <a:spcPts val="34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Char char="•"/>
              </a:pPr>
              <a:r>
                <a:rPr b="0" i="0" lang="es-E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¿Qué grupos poblacionales serían más vulnerables en Jalisco?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2" marL="342900" marR="0" rtl="0" algn="l">
                <a:lnSpc>
                  <a:spcPct val="90000"/>
                </a:lnSpc>
                <a:spcBef>
                  <a:spcPts val="34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Char char="•"/>
              </a:pPr>
              <a:r>
                <a:rPr b="0" i="0" lang="es-E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¿Qué sectores requieren mayor atención en políticas de reconversión laboral?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0" y="2999969"/>
              <a:ext cx="11116056" cy="527670"/>
            </a:xfrm>
            <a:prstGeom prst="roundRect">
              <a:avLst>
                <a:gd fmla="val 16667" name="adj"/>
              </a:avLst>
            </a:prstGeom>
            <a:solidFill>
              <a:srgbClr val="599BD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2"/>
            <p:cNvSpPr txBox="1"/>
            <p:nvPr/>
          </p:nvSpPr>
          <p:spPr>
            <a:xfrm>
              <a:off x="25759" y="3025728"/>
              <a:ext cx="11064538" cy="476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b="1" i="0" lang="es-ES" sz="2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Bases Teóricas:</a:t>
              </a:r>
              <a:endParaRPr b="0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0" y="3527639"/>
              <a:ext cx="11116056" cy="1275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0" y="3527639"/>
              <a:ext cx="11116056" cy="1275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925" lIns="352925" spcFirstLastPara="1" rIns="156450" wrap="square" tIns="2792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Char char="•"/>
              </a:pPr>
              <a:r>
                <a:rPr b="1" i="0" lang="es-E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Economía del trabajo</a:t>
              </a:r>
              <a:r>
                <a:rPr b="0" i="0" lang="es-E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: análisis de sustitución capital-trabajo y desplazamiento tecnológico.</a:t>
              </a:r>
              <a:endPara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4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Char char="•"/>
              </a:pPr>
              <a:r>
                <a:rPr b="1" i="0" lang="es-E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Teoría de habilidades específicas vs. transferibles</a:t>
              </a:r>
              <a:r>
                <a:rPr b="0" i="0" lang="es-E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: ocupaciones con habilidades transferibles presentan menor riesgo de sustitución.</a:t>
              </a:r>
              <a:endPara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4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Char char="•"/>
              </a:pPr>
              <a:r>
                <a:rPr b="1" i="0" lang="es-E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Modelos predictivos con machine learning:</a:t>
              </a:r>
              <a:r>
                <a:rPr b="0" i="0" lang="es-E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clasificación supervisada con algoritmos como Random Forest o regresión logística, usados para estimar probabilidades de sustitución.Bases teóricas</a:t>
              </a:r>
              <a:endPara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/>
          <p:nvPr/>
        </p:nvSpPr>
        <p:spPr>
          <a:xfrm>
            <a:off x="7643191" y="6310289"/>
            <a:ext cx="40551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sz="1100"/>
              <a:t>• Pregunta de investigación: ¿cómo se distribuye el riesgo de automatización entre la frontera cognitiva y la encarnada, y qué determina cuál domina en cada ocupación, sector y territorio?</a:t>
            </a:r>
            <a:endParaRPr b="0" i="1" sz="1800" u="none" cap="small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>
              <a:spcAft>
                <a:spcPts val="600"/>
              </a:spcAft>
            </a:pPr>
            <a:r>
              <a:rPr sz="1100"/>
              <a:t>• H1 — Gradiente: la exposición a LLMs sigue la jerarquía ocupacional (invierte la «zona segura» de Frey-Osborne).</a:t>
            </a:r>
          </a:p>
          <a:p>
            <a:pPr>
              <a:spcAft>
                <a:spcPts val="600"/>
              </a:spcAft>
            </a:pPr>
            <a:r>
              <a:rPr sz="1100"/>
              <a:t>• H2 — Estructura bipolar: las dos exposiciones son polos opuestos de una dimensión dominante, no riesgos independientes.</a:t>
            </a:r>
          </a:p>
          <a:p>
            <a:pPr>
              <a:spcAft>
                <a:spcPts val="600"/>
              </a:spcAft>
            </a:pPr>
            <a:r>
              <a:rPr sz="1100"/>
              <a:t>• H3 — Posición de Jalisco: por debajo del centro cognitivo y por encima del encarnado.</a:t>
            </a:r>
          </a:p>
          <a:p>
            <a:pPr>
              <a:spcAft>
                <a:spcPts val="600"/>
              </a:spcAft>
            </a:pPr>
            <a:r>
              <a:rPr sz="1100"/>
              <a:t>• H4 — Moderación económica: la exposición solo se vuelve presión real donde automatizar es RENTABLE (salario / costo de capital).</a:t>
            </a:r>
          </a:p>
        </p:txBody>
      </p:sp>
      <p:pic>
        <p:nvPicPr>
          <p:cNvPr descr="A logo with blue and red text&#10;&#10;AI-generated content may be incorrect." id="115" name="Google Shape;11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0607" y="6182398"/>
            <a:ext cx="1761393" cy="675602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 txBox="1"/>
          <p:nvPr/>
        </p:nvSpPr>
        <p:spPr>
          <a:xfrm>
            <a:off x="474198" y="-18347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80"/>
              </a:buClr>
              <a:buSzPts val="4000"/>
              <a:buFont typeface="Calibri"/>
              <a:buNone/>
            </a:pPr>
            <a:r>
              <a:rPr b="0" i="0" lang="es-ES" sz="4000" u="none" cap="small" strike="noStrike">
                <a:solidFill>
                  <a:srgbClr val="002780"/>
                </a:solidFill>
                <a:latin typeface="Calibri"/>
                <a:ea typeface="Calibri"/>
                <a:cs typeface="Calibri"/>
                <a:sym typeface="Calibri"/>
              </a:rPr>
              <a:t>Capítulo I. Problemática y/o contexto del problema</a:t>
            </a:r>
            <a:endParaRPr b="0" i="0" sz="4000" u="none" cap="small" strike="noStrike">
              <a:solidFill>
                <a:srgbClr val="0027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ue and white logo&#10;&#10;AI-generated content may be incorrect." id="117" name="Google Shape;117;p3"/>
          <p:cNvPicPr preferRelativeResize="0"/>
          <p:nvPr/>
        </p:nvPicPr>
        <p:blipFill rotWithShape="1">
          <a:blip r:embed="rId4">
            <a:alphaModFix/>
          </a:blip>
          <a:srcRect b="17234" l="0" r="0" t="0"/>
          <a:stretch/>
        </p:blipFill>
        <p:spPr>
          <a:xfrm>
            <a:off x="87923" y="6211299"/>
            <a:ext cx="2580521" cy="6177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" name="Google Shape;118;p3"/>
          <p:cNvGrpSpPr/>
          <p:nvPr/>
        </p:nvGrpSpPr>
        <p:grpSpPr>
          <a:xfrm>
            <a:off x="265176" y="1140014"/>
            <a:ext cx="11116056" cy="4821030"/>
            <a:chOff x="0" y="42974"/>
            <a:chExt cx="11116056" cy="4821030"/>
          </a:xfrm>
        </p:grpSpPr>
        <p:sp>
          <p:nvSpPr>
            <p:cNvPr id="119" name="Google Shape;119;p3"/>
            <p:cNvSpPr/>
            <p:nvPr/>
          </p:nvSpPr>
          <p:spPr>
            <a:xfrm>
              <a:off x="0" y="42974"/>
              <a:ext cx="11116056" cy="551655"/>
            </a:xfrm>
            <a:prstGeom prst="roundRect">
              <a:avLst>
                <a:gd fmla="val 16667" name="adj"/>
              </a:avLst>
            </a:prstGeom>
            <a:solidFill>
              <a:srgbClr val="599BD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3"/>
            <p:cNvSpPr txBox="1"/>
            <p:nvPr/>
          </p:nvSpPr>
          <p:spPr>
            <a:xfrm>
              <a:off x="26930" y="69904"/>
              <a:ext cx="11062196" cy="4977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87625" spcFirstLastPara="1" rIns="8762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Arial"/>
                <a:buNone/>
              </a:pPr>
              <a:r>
                <a:rPr b="1" i="0" lang="es-ES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Objetivos</a:t>
              </a:r>
              <a:endParaRPr b="0" i="0" sz="2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0" y="594629"/>
              <a:ext cx="11116056" cy="14759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3"/>
            <p:cNvSpPr txBox="1"/>
            <p:nvPr/>
          </p:nvSpPr>
          <p:spPr>
            <a:xfrm>
              <a:off x="0" y="594629"/>
              <a:ext cx="11116056" cy="14759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50" lIns="352925" spcFirstLastPara="1" rIns="128000" wrap="square" tIns="22850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es-E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Desarrollar un modelo predictivo para estimar el riesgo de sustitución laboral por IA en Jalisco entre 2025 y 2030.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es-E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Identificar variables clave de ocupaciones y contexto socioeconómico.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es-E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Aplicar técnicas de </a:t>
              </a:r>
              <a:r>
                <a:rPr b="0" i="1" lang="es-E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machine learning </a:t>
              </a:r>
              <a:r>
                <a:rPr b="0" i="0" lang="es-E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sobre datos del INEGI.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b="0" i="0" lang="es-E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Clasificar ocupaciones según su nivel de riesgo.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0" y="2333855"/>
              <a:ext cx="11116056" cy="551655"/>
            </a:xfrm>
            <a:prstGeom prst="roundRect">
              <a:avLst>
                <a:gd fmla="val 16667" name="adj"/>
              </a:avLst>
            </a:prstGeom>
            <a:solidFill>
              <a:srgbClr val="599BD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3"/>
            <p:cNvSpPr txBox="1"/>
            <p:nvPr/>
          </p:nvSpPr>
          <p:spPr>
            <a:xfrm>
              <a:off x="26930" y="2360785"/>
              <a:ext cx="11062196" cy="4977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87625" spcFirstLastPara="1" rIns="8762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Arial"/>
                <a:buNone/>
              </a:pPr>
              <a:r>
                <a:rPr b="1" i="0" lang="es-ES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Hipótesis</a:t>
              </a:r>
              <a:endParaRPr b="0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0" y="2622194"/>
              <a:ext cx="11116056" cy="8569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3"/>
            <p:cNvSpPr txBox="1"/>
            <p:nvPr/>
          </p:nvSpPr>
          <p:spPr>
            <a:xfrm>
              <a:off x="0" y="2622194"/>
              <a:ext cx="11116056" cy="8569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9200" lIns="352925" spcFirstLastPara="1" rIns="163575" wrap="square" tIns="29200">
              <a:noAutofit/>
            </a:bodyPr>
            <a:lstStyle/>
            <a:p>
              <a:pPr indent="-571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•"/>
              </a:pPr>
              <a:r>
                <a:rPr b="0" i="0" lang="es-E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Las ocupaciones con baja calificación técnica, alta repetitividad y menor escolaridad presentan mayor riesgo de ser sustituidas por IA.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0" y="3479174"/>
              <a:ext cx="11116056" cy="551655"/>
            </a:xfrm>
            <a:prstGeom prst="roundRect">
              <a:avLst>
                <a:gd fmla="val 16667" name="adj"/>
              </a:avLst>
            </a:prstGeom>
            <a:solidFill>
              <a:srgbClr val="599BD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3"/>
            <p:cNvSpPr txBox="1"/>
            <p:nvPr/>
          </p:nvSpPr>
          <p:spPr>
            <a:xfrm>
              <a:off x="26930" y="3506104"/>
              <a:ext cx="11062196" cy="4977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87625" spcFirstLastPara="1" rIns="8762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Arial"/>
                <a:buNone/>
              </a:pPr>
              <a:r>
                <a:rPr b="1" i="0" lang="es-ES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Justificación</a:t>
              </a:r>
              <a:endParaRPr b="0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0" y="4030829"/>
              <a:ext cx="11116056" cy="833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3"/>
            <p:cNvSpPr txBox="1"/>
            <p:nvPr/>
          </p:nvSpPr>
          <p:spPr>
            <a:xfrm>
              <a:off x="0" y="4030829"/>
              <a:ext cx="11116056" cy="833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9200" lIns="352925" spcFirstLastPara="1" rIns="163575" wrap="square" tIns="29200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•"/>
              </a:pPr>
              <a:r>
                <a:rPr b="0" i="0" lang="es-E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Este modelo ofrecerá una herramienta práctica para gobiernos, empresas y trabajadores que facilite la planeación de políticas públicas, reconversión laboral y estrategias educativas ante los efectos de la automatización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 txBox="1"/>
          <p:nvPr/>
        </p:nvSpPr>
        <p:spPr>
          <a:xfrm>
            <a:off x="7643191" y="6310289"/>
            <a:ext cx="40551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sz="1100"/>
              <a:t>• Marco de tareas (Autor-Levy-Murnane 2003; Acemoglu-Autor 2011): la tecnología sustituye tareas, no empleos → la exposición se mide del contenido ocupacional (O*NET).</a:t>
            </a:r>
            <a:endParaRPr b="0" i="1" sz="1800" u="none" cap="small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>
              <a:spcAft>
                <a:spcPts val="600"/>
              </a:spcAft>
            </a:pPr>
            <a:r>
              <a:rPr sz="1100"/>
              <a:t>• Carrera desplazamiento vs. reinstalación + condición de rentabilidad (Acemoglu-Restrepo 2018-19): factibilidad ≠ adopción → el IRA y la hipótesis H4; «tecnologías mediocres» = crecimiento perdido.</a:t>
            </a:r>
          </a:p>
          <a:p>
            <a:pPr>
              <a:spcAft>
                <a:spcPts val="600"/>
              </a:spcAft>
            </a:pPr>
            <a:r>
              <a:rPr sz="1100"/>
              <a:t>• Paradoja de Moravec: dos fronteras con costos opuestos → predicción de exposiciones OPUESTAS (H2).</a:t>
            </a:r>
          </a:p>
          <a:p>
            <a:pPr>
              <a:spcAft>
                <a:spcPts val="600"/>
              </a:spcAft>
            </a:pPr>
            <a:r>
              <a:rPr sz="1100"/>
              <a:t>• Linaje de medición: Frey-Osborne → Webb (patentes) → Felten (AIOE) → Eloundou (GPT) → Índice Económico de Anthropic (uso observado). Contribución propia: DBOE (dinamiza a Felten con benchmarks medidos) + DEOE (el espejo encarnado que faltaba).</a:t>
            </a:r>
          </a:p>
          <a:p>
            <a:pPr>
              <a:spcAft>
                <a:spcPts val="600"/>
              </a:spcAft>
            </a:pPr>
            <a:r>
              <a:rPr sz="1100"/>
              <a:t>• Curva J de la productividad (Brynjolfsson): el rezago entre choque de capacidad y choque laboral → la VENTANA DE POLÍTICA.</a:t>
            </a:r>
          </a:p>
          <a:p>
            <a:pPr>
              <a:spcAft>
                <a:spcPts val="600"/>
              </a:spcAft>
            </a:pPr>
            <a:r>
              <a:rPr sz="1100"/>
              <a:t>• Economías en desarrollo: informalidad como multiplicador de severidad; trasplante O*NET contrastado (r = 0.97 MX-EUA); nearshoring como importador de la frontera robótica.</a:t>
            </a:r>
          </a:p>
        </p:txBody>
      </p:sp>
      <p:pic>
        <p:nvPicPr>
          <p:cNvPr descr="A logo with blue and red text&#10;&#10;AI-generated content may be incorrect." id="136" name="Google Shape;1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0607" y="6182398"/>
            <a:ext cx="1761393" cy="675602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4"/>
          <p:cNvSpPr txBox="1"/>
          <p:nvPr/>
        </p:nvSpPr>
        <p:spPr>
          <a:xfrm>
            <a:off x="474198" y="-18347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80"/>
              </a:buClr>
              <a:buSzPts val="4000"/>
              <a:buFont typeface="Calibri"/>
              <a:buNone/>
            </a:pPr>
            <a:r>
              <a:rPr b="0" i="0" lang="es-ES" sz="4000" u="none" cap="small" strike="noStrike">
                <a:solidFill>
                  <a:srgbClr val="002780"/>
                </a:solidFill>
                <a:latin typeface="Calibri"/>
                <a:ea typeface="Calibri"/>
                <a:cs typeface="Calibri"/>
                <a:sym typeface="Calibri"/>
              </a:rPr>
              <a:t>Capítulo II. Marco teórico</a:t>
            </a:r>
            <a:endParaRPr/>
          </a:p>
        </p:txBody>
      </p:sp>
      <p:pic>
        <p:nvPicPr>
          <p:cNvPr descr="A blue and white logo&#10;&#10;AI-generated content may be incorrect." id="138" name="Google Shape;138;p4"/>
          <p:cNvPicPr preferRelativeResize="0"/>
          <p:nvPr/>
        </p:nvPicPr>
        <p:blipFill rotWithShape="1">
          <a:blip r:embed="rId4">
            <a:alphaModFix/>
          </a:blip>
          <a:srcRect b="17234" l="0" r="0" t="0"/>
          <a:stretch/>
        </p:blipFill>
        <p:spPr>
          <a:xfrm>
            <a:off x="87923" y="6211299"/>
            <a:ext cx="2580521" cy="6177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" name="Google Shape;139;p4"/>
          <p:cNvGrpSpPr/>
          <p:nvPr/>
        </p:nvGrpSpPr>
        <p:grpSpPr>
          <a:xfrm>
            <a:off x="265176" y="1218134"/>
            <a:ext cx="11116056" cy="4664790"/>
            <a:chOff x="0" y="121094"/>
            <a:chExt cx="11116056" cy="4664790"/>
          </a:xfrm>
        </p:grpSpPr>
        <p:sp>
          <p:nvSpPr>
            <p:cNvPr id="140" name="Google Shape;140;p4"/>
            <p:cNvSpPr/>
            <p:nvPr/>
          </p:nvSpPr>
          <p:spPr>
            <a:xfrm>
              <a:off x="0" y="121094"/>
              <a:ext cx="11116056" cy="623610"/>
            </a:xfrm>
            <a:prstGeom prst="roundRect">
              <a:avLst>
                <a:gd fmla="val 16667" name="adj"/>
              </a:avLst>
            </a:prstGeom>
            <a:solidFill>
              <a:srgbClr val="599BD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4"/>
            <p:cNvSpPr txBox="1"/>
            <p:nvPr/>
          </p:nvSpPr>
          <p:spPr>
            <a:xfrm>
              <a:off x="30442" y="151536"/>
              <a:ext cx="11055172" cy="5627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1" i="0" lang="es-ES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Antecedentes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0" y="744704"/>
              <a:ext cx="11116056" cy="1829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4"/>
            <p:cNvSpPr txBox="1"/>
            <p:nvPr/>
          </p:nvSpPr>
          <p:spPr>
            <a:xfrm>
              <a:off x="0" y="744704"/>
              <a:ext cx="11116056" cy="1829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00" lIns="352925" spcFirstLastPara="1" rIns="184900" wrap="square" tIns="3300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b="1" i="0" lang="es-E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 Frey &amp; Osborne (2013): </a:t>
              </a:r>
              <a:r>
                <a:rPr b="0" i="0" lang="es-E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Desarrollaron un modelo para estimar la probabilidad de automatización de 702 ocupaciones en EE. UU., basado en tareas rutinarias y no rutinarias, combinando análisis de expertos y </a:t>
              </a:r>
              <a:r>
                <a:rPr b="0" i="1" lang="es-E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machine learning</a:t>
              </a:r>
              <a:r>
                <a:rPr b="0" i="0" lang="es-E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 Su enfoque ha sido replicado y adaptado en diversos países.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b="0" i="0" lang="es-E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 </a:t>
              </a:r>
              <a:r>
                <a:rPr b="1" i="0" lang="es-E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OCDE (2016): </a:t>
              </a:r>
              <a:r>
                <a:rPr b="0" i="0" lang="es-E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Propuso un enfoque alternativo que mide el riesgo de automatización a nivel de tareas, utilizando microdatos de encuestas laborales. Resaltando que el riesgo varía incluso dentro de una misma ocupación.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4"/>
            <p:cNvSpPr/>
            <p:nvPr/>
          </p:nvSpPr>
          <p:spPr>
            <a:xfrm>
              <a:off x="0" y="2574584"/>
              <a:ext cx="11116056" cy="623610"/>
            </a:xfrm>
            <a:prstGeom prst="roundRect">
              <a:avLst>
                <a:gd fmla="val 16667" name="adj"/>
              </a:avLst>
            </a:prstGeom>
            <a:solidFill>
              <a:srgbClr val="599BD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4"/>
            <p:cNvSpPr txBox="1"/>
            <p:nvPr/>
          </p:nvSpPr>
          <p:spPr>
            <a:xfrm>
              <a:off x="30442" y="2605026"/>
              <a:ext cx="11055172" cy="5627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1" i="0" lang="es-ES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Bases Teóricas: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4"/>
            <p:cNvSpPr/>
            <p:nvPr/>
          </p:nvSpPr>
          <p:spPr>
            <a:xfrm>
              <a:off x="0" y="3198194"/>
              <a:ext cx="11116056" cy="15876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4"/>
            <p:cNvSpPr txBox="1"/>
            <p:nvPr/>
          </p:nvSpPr>
          <p:spPr>
            <a:xfrm>
              <a:off x="0" y="3198194"/>
              <a:ext cx="11116056" cy="15876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00" lIns="352925" spcFirstLastPara="1" rIns="184900" wrap="square" tIns="3300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b="1" i="0" lang="es-E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Economía del trabajo</a:t>
              </a:r>
              <a:r>
                <a:rPr b="0" i="0" lang="es-E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análisis de sustitución capital-trabajo y desplazamiento tecnológico.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b="1" i="0" lang="es-E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Teoría de habilidades específicas vs. transferibles</a:t>
              </a:r>
              <a:r>
                <a:rPr b="0" i="0" lang="es-E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ocupaciones con habilidades transferibles presentan menor riesgo de sustitución.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b="1" i="0" lang="es-E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Modelos predictivos con machine learning:</a:t>
              </a:r>
              <a:r>
                <a:rPr b="0" i="0" lang="es-E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clasificación supervisada con algoritmos como Random Forest o regresión logística, usados para estimar probabilidades de sustitución.Bases teóricas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 txBox="1"/>
          <p:nvPr/>
        </p:nvSpPr>
        <p:spPr>
          <a:xfrm>
            <a:off x="7643191" y="6310289"/>
            <a:ext cx="40551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sz="1100"/>
              <a:t>• 14 fuentes integradas en SQL Server (~45 tablas); 100% reproducible: cada cifra proviene de un script versionado (GitHub).</a:t>
            </a:r>
            <a:endParaRPr b="0" i="1" sz="1800" u="none" cap="small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>
              <a:spcAft>
                <a:spcPts val="600"/>
              </a:spcAft>
            </a:pPr>
            <a:r>
              <a:rPr sz="1100"/>
              <a:t>• Índices propios validados: DBOE reproduce el AIOE publicado (r = 0.94); DEOE valida contra exposición robótica por patentes de Webb (r = +0.76) con validez discriminante.</a:t>
            </a:r>
          </a:p>
          <a:p>
            <a:pPr>
              <a:spcAft>
                <a:spcPts val="600"/>
              </a:spcAft>
            </a:pPr>
            <a:r>
              <a:rPr sz="1100"/>
              <a:t>• Cruce oficial INEGI SINCO↔SOC: 88% del empleo ponderado de Jalisco con exposición asignada; análisis de cotas para el resto.</a:t>
            </a:r>
          </a:p>
          <a:p>
            <a:pPr>
              <a:spcAft>
                <a:spcPts val="600"/>
              </a:spcAft>
            </a:pPr>
            <a:r>
              <a:rPr sz="1100"/>
              <a:t>• Nivel 1 — modelo hurdle del USO OBSERVADO de IA por ocupación (objetivo externo, no circular).</a:t>
            </a:r>
          </a:p>
          <a:p>
            <a:pPr>
              <a:spcAft>
                <a:spcPts val="600"/>
              </a:spcAft>
            </a:pPr>
            <a:r>
              <a:rPr sz="1100"/>
              <a:t>• Contraste de H4 — panel censal 2003–2023 (19 sectores × 4 transiciones), IRA rezagado, inferencia exacta por permutación.</a:t>
            </a:r>
          </a:p>
          <a:p>
            <a:pPr>
              <a:spcAft>
                <a:spcPts val="600"/>
              </a:spcAft>
            </a:pPr>
            <a:r>
              <a:rPr sz="1100"/>
              <a:t>• Nivel 2 — escenarios 2025–2030: presión = exposición × curvas tecnológicas c(t)/r(t) × incentivo (IRA).</a:t>
            </a:r>
          </a:p>
        </p:txBody>
      </p:sp>
      <p:pic>
        <p:nvPicPr>
          <p:cNvPr descr="A logo with blue and red text&#10;&#10;AI-generated content may be incorrect." id="153" name="Google Shape;15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0607" y="6182398"/>
            <a:ext cx="1761393" cy="67560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5"/>
          <p:cNvSpPr txBox="1"/>
          <p:nvPr/>
        </p:nvSpPr>
        <p:spPr>
          <a:xfrm>
            <a:off x="474198" y="-18347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80"/>
              </a:buClr>
              <a:buSzPts val="4000"/>
              <a:buFont typeface="Calibri"/>
              <a:buNone/>
            </a:pPr>
            <a:r>
              <a:rPr b="0" i="0" lang="es-ES" sz="4000" u="none" cap="small" strike="noStrike">
                <a:solidFill>
                  <a:srgbClr val="002780"/>
                </a:solidFill>
                <a:latin typeface="Calibri"/>
                <a:ea typeface="Calibri"/>
                <a:cs typeface="Calibri"/>
                <a:sym typeface="Calibri"/>
              </a:rPr>
              <a:t>Capítulo III. Contexto metodológico</a:t>
            </a:r>
            <a:endParaRPr/>
          </a:p>
        </p:txBody>
      </p:sp>
      <p:pic>
        <p:nvPicPr>
          <p:cNvPr descr="A blue and white logo&#10;&#10;AI-generated content may be incorrect." id="155" name="Google Shape;155;p5"/>
          <p:cNvPicPr preferRelativeResize="0"/>
          <p:nvPr/>
        </p:nvPicPr>
        <p:blipFill rotWithShape="1">
          <a:blip r:embed="rId4">
            <a:alphaModFix/>
          </a:blip>
          <a:srcRect b="17234" l="0" r="0" t="0"/>
          <a:stretch/>
        </p:blipFill>
        <p:spPr>
          <a:xfrm>
            <a:off x="87923" y="6211299"/>
            <a:ext cx="2580521" cy="6177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6" name="Google Shape;156;p5"/>
          <p:cNvGrpSpPr/>
          <p:nvPr/>
        </p:nvGrpSpPr>
        <p:grpSpPr>
          <a:xfrm>
            <a:off x="265176" y="1321274"/>
            <a:ext cx="11116056" cy="4458510"/>
            <a:chOff x="0" y="224234"/>
            <a:chExt cx="11116056" cy="4458510"/>
          </a:xfrm>
        </p:grpSpPr>
        <p:sp>
          <p:nvSpPr>
            <p:cNvPr id="157" name="Google Shape;157;p5"/>
            <p:cNvSpPr/>
            <p:nvPr/>
          </p:nvSpPr>
          <p:spPr>
            <a:xfrm>
              <a:off x="0" y="224234"/>
              <a:ext cx="11116056" cy="335790"/>
            </a:xfrm>
            <a:prstGeom prst="roundRect">
              <a:avLst>
                <a:gd fmla="val 16667" name="adj"/>
              </a:avLst>
            </a:prstGeom>
            <a:solidFill>
              <a:srgbClr val="599BD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5"/>
            <p:cNvSpPr txBox="1"/>
            <p:nvPr/>
          </p:nvSpPr>
          <p:spPr>
            <a:xfrm>
              <a:off x="16392" y="240626"/>
              <a:ext cx="11083272" cy="3030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b="1" i="0" lang="es-ES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Integración de Fuentes y Normalización</a:t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0" y="560024"/>
              <a:ext cx="11116056" cy="565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5"/>
            <p:cNvSpPr txBox="1"/>
            <p:nvPr/>
          </p:nvSpPr>
          <p:spPr>
            <a:xfrm>
              <a:off x="0" y="560024"/>
              <a:ext cx="11116056" cy="565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775" lIns="352925" spcFirstLastPara="1" rIns="99550" wrap="square" tIns="17775">
              <a:noAutofit/>
            </a:bodyPr>
            <a:lstStyle/>
            <a:p>
              <a:pPr indent="-69850" lvl="1" marL="571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Char char="•"/>
              </a:pP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Vinculación entre códigos ocupacionales </a:t>
              </a:r>
              <a:r>
                <a:rPr b="1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CNO-INEGI(México)</a:t>
              </a: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1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ISCO-08(Datos de normalización)</a:t>
              </a: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y </a:t>
              </a:r>
              <a:r>
                <a:rPr b="1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O*NET </a:t>
              </a: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-&gt; </a:t>
              </a:r>
              <a:r>
                <a:rPr b="1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SOC 2019 (EE. UU.)</a:t>
              </a: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69850" lvl="1" marL="57150" marR="0" rtl="0" algn="l">
                <a:lnSpc>
                  <a:spcPct val="90000"/>
                </a:lnSpc>
                <a:spcBef>
                  <a:spcPts val="22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Char char="•"/>
              </a:pP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Estandarización de variables para lograr comparabilidad internacional.</a:t>
              </a:r>
              <a:endParaRPr/>
            </a:p>
            <a:p>
              <a:pPr indent="-69850" lvl="1" marL="57150" marR="0" rtl="0" algn="l">
                <a:lnSpc>
                  <a:spcPct val="90000"/>
                </a:lnSpc>
                <a:spcBef>
                  <a:spcPts val="22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Char char="•"/>
              </a:pP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Fusión de datos de </a:t>
              </a:r>
              <a:r>
                <a:rPr b="1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INEGI, O*NET, WEF</a:t>
              </a: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y estudios recientes sobre automatización.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0" y="1125134"/>
              <a:ext cx="11116056" cy="335790"/>
            </a:xfrm>
            <a:prstGeom prst="roundRect">
              <a:avLst>
                <a:gd fmla="val 16667" name="adj"/>
              </a:avLst>
            </a:prstGeom>
            <a:solidFill>
              <a:srgbClr val="599BD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5"/>
            <p:cNvSpPr txBox="1"/>
            <p:nvPr/>
          </p:nvSpPr>
          <p:spPr>
            <a:xfrm>
              <a:off x="16392" y="1141526"/>
              <a:ext cx="11083272" cy="3030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b="1" i="0" lang="es-ES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Variables e Índices Avanzados</a:t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0" y="1460924"/>
              <a:ext cx="11116056" cy="1072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5"/>
            <p:cNvSpPr txBox="1"/>
            <p:nvPr/>
          </p:nvSpPr>
          <p:spPr>
            <a:xfrm>
              <a:off x="0" y="1460924"/>
              <a:ext cx="11116056" cy="1072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775" lIns="352925" spcFirstLastPara="1" rIns="99550" wrap="square" tIns="17775">
              <a:noAutofit/>
            </a:bodyPr>
            <a:lstStyle/>
            <a:p>
              <a:pPr indent="-69850" lvl="1" marL="571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Char char="•"/>
              </a:pPr>
              <a:r>
                <a:rPr b="1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Índice de Rutina (RTI):</a:t>
              </a: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la cual mide tareas repetitivas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69850" lvl="1" marL="57150" marR="0" rtl="0" algn="l">
                <a:lnSpc>
                  <a:spcPct val="90000"/>
                </a:lnSpc>
                <a:spcBef>
                  <a:spcPts val="22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Char char="•"/>
              </a:pPr>
              <a:r>
                <a:rPr b="1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Creativity Score</a:t>
              </a: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y </a:t>
              </a:r>
              <a:r>
                <a:rPr b="1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Destreza Manual Index:</a:t>
              </a: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estiman dificultad de automatización de cada trabajo.</a:t>
              </a:r>
              <a:endParaRPr/>
            </a:p>
            <a:p>
              <a:pPr indent="-69850" lvl="1" marL="57150" marR="0" rtl="0" algn="l">
                <a:lnSpc>
                  <a:spcPct val="90000"/>
                </a:lnSpc>
                <a:spcBef>
                  <a:spcPts val="22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Char char="•"/>
              </a:pP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Para reflejar el impacto de tecnologías recientes como GPT‑4, Claude o Copilot, se incorporarán nuevos indicadores relacionados con IA generativa, actualmente en desarrollo. Estos permitirán capturar riesgos que van más allá del enfoque tradicional de automatización.</a:t>
              </a:r>
              <a:endParaRPr/>
            </a:p>
            <a:p>
              <a:pPr indent="-69850" lvl="1" marL="57150" marR="0" rtl="0" algn="l">
                <a:lnSpc>
                  <a:spcPct val="90000"/>
                </a:lnSpc>
                <a:spcBef>
                  <a:spcPts val="22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Char char="•"/>
              </a:pPr>
              <a:r>
                <a:rPr b="1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Ejemplo: LLM Task Similarity Score: </a:t>
              </a: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Este indicador mide la similitud entre las tareas de una ocupación y las capacidades actuales de modelos de lenguaje (LLMs). A mayor similitud, mayor es el riesgo de que dicha ocupación pueda ser automatizada por IA generativa. Esto es especialmente relevante en trabajos administrativos, creativos o analíticos.</a:t>
              </a:r>
              <a:endParaRPr/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0" y="2533184"/>
              <a:ext cx="11116056" cy="335790"/>
            </a:xfrm>
            <a:prstGeom prst="roundRect">
              <a:avLst>
                <a:gd fmla="val 16667" name="adj"/>
              </a:avLst>
            </a:prstGeom>
            <a:solidFill>
              <a:srgbClr val="599BD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5"/>
            <p:cNvSpPr txBox="1"/>
            <p:nvPr/>
          </p:nvSpPr>
          <p:spPr>
            <a:xfrm>
              <a:off x="16392" y="2549576"/>
              <a:ext cx="11083272" cy="3030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b="1" i="0" lang="es-ES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Herramientas</a:t>
              </a:r>
              <a:endParaRPr/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0" y="2868974"/>
              <a:ext cx="11116056" cy="376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5"/>
            <p:cNvSpPr txBox="1"/>
            <p:nvPr/>
          </p:nvSpPr>
          <p:spPr>
            <a:xfrm>
              <a:off x="0" y="2868974"/>
              <a:ext cx="11116056" cy="376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775" lIns="352925" spcFirstLastPara="1" rIns="99550" wrap="square" tIns="17775">
              <a:noAutofit/>
            </a:bodyPr>
            <a:lstStyle/>
            <a:p>
              <a:pPr indent="-69850" lvl="1" marL="571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Char char="•"/>
              </a:pPr>
              <a:r>
                <a:rPr b="1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Python – Algoritmos (</a:t>
              </a: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Pandas</a:t>
              </a:r>
              <a:r>
                <a:rPr b="1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scikit‑learn, matplotlib, pyjanitor)</a:t>
              </a:r>
              <a:endParaRPr b="1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69850" lvl="1" marL="57150" marR="0" rtl="0" algn="l">
                <a:lnSpc>
                  <a:spcPct val="90000"/>
                </a:lnSpc>
                <a:spcBef>
                  <a:spcPts val="22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Char char="•"/>
              </a:pPr>
              <a:r>
                <a:rPr b="1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Optuna – Framework de optimización</a:t>
              </a:r>
              <a:endParaRPr/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0" y="3261264"/>
              <a:ext cx="11116056" cy="335790"/>
            </a:xfrm>
            <a:prstGeom prst="roundRect">
              <a:avLst>
                <a:gd fmla="val 16667" name="adj"/>
              </a:avLst>
            </a:prstGeom>
            <a:solidFill>
              <a:srgbClr val="599BD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5"/>
            <p:cNvSpPr txBox="1"/>
            <p:nvPr/>
          </p:nvSpPr>
          <p:spPr>
            <a:xfrm>
              <a:off x="16392" y="3277656"/>
              <a:ext cx="11083272" cy="3030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b="1" i="0" lang="es-ES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Modelado Predictivo</a:t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0" y="3581504"/>
              <a:ext cx="11116056" cy="1101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5"/>
            <p:cNvSpPr txBox="1"/>
            <p:nvPr/>
          </p:nvSpPr>
          <p:spPr>
            <a:xfrm>
              <a:off x="0" y="3581504"/>
              <a:ext cx="11116056" cy="1101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775" lIns="352925" spcFirstLastPara="1" rIns="99550" wrap="square" tIns="17775">
              <a:noAutofit/>
            </a:bodyPr>
            <a:lstStyle/>
            <a:p>
              <a:pPr indent="-69850" lvl="1" marL="571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Char char="•"/>
              </a:pP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Para estimar el riesgo de sustitución laboral por IA, se utilizará un enfoque de </a:t>
              </a:r>
              <a:r>
                <a:rPr b="1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aprendizaje supervisado</a:t>
              </a: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basado en algoritmos de clasificación. El objetivo es predecir la probabilidad de automatización de cada ocupación, a partir de sus características (nivel de rutina, creatividad, habilidades técnicas, etc.).</a:t>
              </a:r>
              <a:endParaRPr/>
            </a:p>
            <a:p>
              <a:pPr indent="-69850" lvl="1" marL="57150" marR="0" rtl="0" algn="l">
                <a:lnSpc>
                  <a:spcPct val="90000"/>
                </a:lnSpc>
                <a:spcBef>
                  <a:spcPts val="22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Char char="•"/>
              </a:pPr>
              <a:r>
                <a:rPr b="1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Algoritmos principales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69850" lvl="2" marL="114300" marR="0" rtl="0" algn="l">
                <a:lnSpc>
                  <a:spcPct val="90000"/>
                </a:lnSpc>
                <a:spcBef>
                  <a:spcPts val="22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Char char="•"/>
              </a:pPr>
              <a:r>
                <a:rPr b="1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Regresión Logística:</a:t>
              </a: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modelo estadístico tradicional para clasificación binaria o probabilística.</a:t>
              </a:r>
              <a:endParaRPr/>
            </a:p>
            <a:p>
              <a:pPr indent="-69850" lvl="2" marL="114300" marR="0" rtl="0" algn="l">
                <a:lnSpc>
                  <a:spcPct val="90000"/>
                </a:lnSpc>
                <a:spcBef>
                  <a:spcPts val="22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Char char="•"/>
              </a:pPr>
              <a:r>
                <a:rPr b="1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Random Forest:</a:t>
              </a: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método basado en múltiples árboles de decisión que mejora la precisión mediante votación.</a:t>
              </a:r>
              <a:endParaRPr/>
            </a:p>
            <a:p>
              <a:pPr indent="-69850" lvl="2" marL="114300" marR="0" rtl="0" algn="l">
                <a:lnSpc>
                  <a:spcPct val="90000"/>
                </a:lnSpc>
                <a:spcBef>
                  <a:spcPts val="22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Char char="•"/>
              </a:pPr>
              <a:r>
                <a:rPr b="1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LightGBM:</a:t>
              </a: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algoritmo de gradiente optimizado para alto rendimiento, ideal para conjuntos de datos estructurados.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"/>
          <p:cNvSpPr txBox="1"/>
          <p:nvPr/>
        </p:nvSpPr>
        <p:spPr>
          <a:xfrm>
            <a:off x="7643191" y="6310289"/>
            <a:ext cx="40551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sz="1100"/>
              <a:t>• H2 ✓ Eje bipolar (57% de varianza; φ = −0.67): los LLMs y los robots amenazan ocupaciones OPUESTAS — y los 32 estados del país se alinean sobre esa misma recta.</a:t>
            </a:r>
            <a:endParaRPr b="0" i="1" sz="1800" u="none" cap="small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>
              <a:spcAft>
                <a:spcPts val="600"/>
              </a:spcAft>
            </a:pPr>
            <a:r>
              <a:rPr sz="1100"/>
              <a:t>• H1 ✓ Gradiente espejo por educación: DBOE de −1.00 (primaria) a +0.50 (superior); DEOE exactamente al revés. El riesgo tiene género: mujeres → LLMs; hombres → robots.</a:t>
            </a:r>
          </a:p>
          <a:p>
            <a:pPr>
              <a:spcAft>
                <a:spcPts val="600"/>
              </a:spcAft>
            </a:pPr>
            <a:r>
              <a:rPr sz="1100"/>
              <a:t>• H3 ✓ refinada: Jalisco es BIFRONTAL — 8.º estado más expuesto a LLMs y 29.º a robots; metrópoli cognitiva vs. corredor encarnado.</a:t>
            </a:r>
          </a:p>
          <a:p>
            <a:pPr>
              <a:spcAft>
                <a:spcPts val="600"/>
              </a:spcAft>
            </a:pPr>
            <a:r>
              <a:rPr sz="1100"/>
              <a:t>• H4 ✓ Veinte años de censos: el mercado sustituye donde paga (profundización de capital p = .013; participación laboral p = .004); la forma del daño es crecimiento perdido: +0.6 vs. +3.7% anual.</a:t>
            </a:r>
          </a:p>
          <a:p>
            <a:pPr>
              <a:spcAft>
                <a:spcPts val="600"/>
              </a:spcAft>
            </a:pPr>
            <a:r>
              <a:rPr sz="1100"/>
              <a:t>• Cuantificación: 1.10 M de trabajadores bajo presión alta hoy → 1.88 M en 2030 (escenario base); 908 mil informales sin red; celda crítica de 348 mil (informal + robot + ≤9 años de escolaridad).</a:t>
            </a:r>
          </a:p>
          <a:p>
            <a:pPr>
              <a:spcAft>
                <a:spcPts val="600"/>
              </a:spcAft>
            </a:pPr>
            <a:r>
              <a:rPr sz="1100"/>
              <a:t>• La ventana de política: el choque de capacidad ya ocurrió y las expectativas saltaron +12.5 pp (2020→2023), pero el empleo —formal, total o vía informalidad— aún no responde. La ventana sigue abierta.</a:t>
            </a:r>
          </a:p>
        </p:txBody>
      </p:sp>
      <p:sp>
        <p:nvSpPr>
          <p:cNvPr id="178" name="Google Shape;178;p6"/>
          <p:cNvSpPr txBox="1"/>
          <p:nvPr/>
        </p:nvSpPr>
        <p:spPr>
          <a:xfrm>
            <a:off x="467752" y="-19276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80"/>
              </a:buClr>
              <a:buSzPts val="4000"/>
              <a:buFont typeface="Calibri"/>
              <a:buNone/>
            </a:pPr>
            <a:r>
              <a:rPr b="0" i="0" lang="es-ES" sz="4000" u="none" cap="small" strike="noStrike">
                <a:solidFill>
                  <a:srgbClr val="002780"/>
                </a:solidFill>
                <a:latin typeface="Calibri"/>
                <a:ea typeface="Calibri"/>
                <a:cs typeface="Calibri"/>
                <a:sym typeface="Calibri"/>
              </a:rPr>
              <a:t>Capítulo IV. Resultados esperados</a:t>
            </a:r>
            <a:endParaRPr/>
          </a:p>
        </p:txBody>
      </p:sp>
      <p:pic>
        <p:nvPicPr>
          <p:cNvPr descr="A logo with blue and red text&#10;&#10;AI-generated content may be incorrect." id="179" name="Google Shape;17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42684" y="6182398"/>
            <a:ext cx="1761393" cy="6756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logo&#10;&#10;AI-generated content may be incorrect." id="180" name="Google Shape;180;p6"/>
          <p:cNvPicPr preferRelativeResize="0"/>
          <p:nvPr/>
        </p:nvPicPr>
        <p:blipFill rotWithShape="1">
          <a:blip r:embed="rId4">
            <a:alphaModFix/>
          </a:blip>
          <a:srcRect b="17234" l="0" r="0" t="0"/>
          <a:stretch/>
        </p:blipFill>
        <p:spPr>
          <a:xfrm>
            <a:off x="87923" y="6211299"/>
            <a:ext cx="2580521" cy="6177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1" name="Google Shape;181;p6"/>
          <p:cNvGrpSpPr/>
          <p:nvPr/>
        </p:nvGrpSpPr>
        <p:grpSpPr>
          <a:xfrm>
            <a:off x="563665" y="1475321"/>
            <a:ext cx="10302771" cy="3466251"/>
            <a:chOff x="1283" y="62227"/>
            <a:chExt cx="10302771" cy="3466251"/>
          </a:xfrm>
        </p:grpSpPr>
        <p:sp>
          <p:nvSpPr>
            <p:cNvPr id="182" name="Google Shape;182;p6"/>
            <p:cNvSpPr/>
            <p:nvPr/>
          </p:nvSpPr>
          <p:spPr>
            <a:xfrm>
              <a:off x="1052586" y="484017"/>
              <a:ext cx="841042" cy="71"/>
            </a:xfrm>
            <a:prstGeom prst="rect">
              <a:avLst/>
            </a:prstGeom>
            <a:solidFill>
              <a:srgbClr val="CFDEEF">
                <a:alpha val="89803"/>
              </a:srgbClr>
            </a:solidFill>
            <a:ln cap="flat" cmpd="sng" w="12700">
              <a:solidFill>
                <a:srgbClr val="CFDEEF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1944092" y="413405"/>
              <a:ext cx="96719" cy="181664"/>
            </a:xfrm>
            <a:prstGeom prst="chevron">
              <a:avLst>
                <a:gd fmla="val 90000" name="adj"/>
              </a:avLst>
            </a:prstGeom>
            <a:solidFill>
              <a:srgbClr val="CFDEEF">
                <a:alpha val="89803"/>
              </a:srgbClr>
            </a:solidFill>
            <a:ln cap="flat" cmpd="sng" w="12700">
              <a:solidFill>
                <a:srgbClr val="CFDEEF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6"/>
            <p:cNvSpPr/>
            <p:nvPr/>
          </p:nvSpPr>
          <p:spPr>
            <a:xfrm>
              <a:off x="525631" y="62227"/>
              <a:ext cx="843651" cy="843651"/>
            </a:xfrm>
            <a:prstGeom prst="ellipse">
              <a:avLst/>
            </a:prstGeom>
            <a:solidFill>
              <a:srgbClr val="599BD5"/>
            </a:solidFill>
            <a:ln cap="flat" cmpd="sng" w="12700">
              <a:solidFill>
                <a:srgbClr val="599B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6"/>
            <p:cNvSpPr txBox="1"/>
            <p:nvPr/>
          </p:nvSpPr>
          <p:spPr>
            <a:xfrm>
              <a:off x="649181" y="185777"/>
              <a:ext cx="596551" cy="596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2725" lIns="32725" spcFirstLastPara="1" rIns="32725" wrap="square" tIns="327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800"/>
                <a:buFont typeface="Calibri"/>
                <a:buNone/>
              </a:pPr>
              <a:r>
                <a:rPr b="0" i="0" lang="es-ES" sz="3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86" name="Google Shape;186;p6"/>
            <p:cNvSpPr/>
            <p:nvPr/>
          </p:nvSpPr>
          <p:spPr>
            <a:xfrm>
              <a:off x="1283" y="1071478"/>
              <a:ext cx="1892345" cy="2457000"/>
            </a:xfrm>
            <a:prstGeom prst="upArrowCallout">
              <a:avLst>
                <a:gd fmla="val 50000" name="adj1"/>
                <a:gd fmla="val 20000" name="adj2"/>
                <a:gd fmla="val 20000" name="adj3"/>
                <a:gd fmla="val 100000" name="adj4"/>
              </a:avLst>
            </a:prstGeom>
            <a:solidFill>
              <a:srgbClr val="CFDEEF">
                <a:alpha val="89803"/>
              </a:srgbClr>
            </a:solidFill>
            <a:ln cap="flat" cmpd="sng" w="12700">
              <a:solidFill>
                <a:srgbClr val="CFDEEF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6"/>
            <p:cNvSpPr txBox="1"/>
            <p:nvPr/>
          </p:nvSpPr>
          <p:spPr>
            <a:xfrm>
              <a:off x="1283" y="1449947"/>
              <a:ext cx="1892345" cy="2078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65100" lIns="149250" spcFirstLastPara="1" rIns="149250" wrap="square" tIns="165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b="1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Modelo predictivo funcional y validado</a:t>
              </a:r>
              <a:b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Un modelo que estime con alta precisión el riesgo de sustitución laboral por Inteligencia Artificial, adaptado al contexto mexicano (caso Jalisco 2025–2030), con base en datos del INEGI y mapeo con O*NET.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6"/>
            <p:cNvSpPr/>
            <p:nvPr/>
          </p:nvSpPr>
          <p:spPr>
            <a:xfrm>
              <a:off x="2103890" y="484017"/>
              <a:ext cx="1892345" cy="72"/>
            </a:xfrm>
            <a:prstGeom prst="rect">
              <a:avLst/>
            </a:prstGeom>
            <a:solidFill>
              <a:srgbClr val="CFDEEF">
                <a:alpha val="89803"/>
              </a:srgbClr>
            </a:solidFill>
            <a:ln cap="flat" cmpd="sng" w="12700">
              <a:solidFill>
                <a:srgbClr val="CFDEEF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6"/>
            <p:cNvSpPr/>
            <p:nvPr/>
          </p:nvSpPr>
          <p:spPr>
            <a:xfrm>
              <a:off x="4046698" y="413405"/>
              <a:ext cx="96719" cy="181665"/>
            </a:xfrm>
            <a:prstGeom prst="chevron">
              <a:avLst>
                <a:gd fmla="val 90000" name="adj"/>
              </a:avLst>
            </a:prstGeom>
            <a:solidFill>
              <a:srgbClr val="CFDEEF">
                <a:alpha val="89803"/>
              </a:srgbClr>
            </a:solidFill>
            <a:ln cap="flat" cmpd="sng" w="12700">
              <a:solidFill>
                <a:srgbClr val="CFDEEF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6"/>
            <p:cNvSpPr/>
            <p:nvPr/>
          </p:nvSpPr>
          <p:spPr>
            <a:xfrm>
              <a:off x="2628237" y="62227"/>
              <a:ext cx="843651" cy="843651"/>
            </a:xfrm>
            <a:prstGeom prst="ellipse">
              <a:avLst/>
            </a:prstGeom>
            <a:solidFill>
              <a:srgbClr val="599BD5"/>
            </a:solidFill>
            <a:ln cap="flat" cmpd="sng" w="12700">
              <a:solidFill>
                <a:srgbClr val="599B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6"/>
            <p:cNvSpPr txBox="1"/>
            <p:nvPr/>
          </p:nvSpPr>
          <p:spPr>
            <a:xfrm>
              <a:off x="2751787" y="185777"/>
              <a:ext cx="596551" cy="596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2725" lIns="32725" spcFirstLastPara="1" rIns="32725" wrap="square" tIns="327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800"/>
                <a:buFont typeface="Calibri"/>
                <a:buNone/>
              </a:pPr>
              <a:r>
                <a:rPr b="0" i="0" lang="es-ES" sz="3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3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6"/>
            <p:cNvSpPr/>
            <p:nvPr/>
          </p:nvSpPr>
          <p:spPr>
            <a:xfrm>
              <a:off x="2103890" y="1071478"/>
              <a:ext cx="1892345" cy="2457000"/>
            </a:xfrm>
            <a:prstGeom prst="upArrowCallout">
              <a:avLst>
                <a:gd fmla="val 50000" name="adj1"/>
                <a:gd fmla="val 20000" name="adj2"/>
                <a:gd fmla="val 20000" name="adj3"/>
                <a:gd fmla="val 100000" name="adj4"/>
              </a:avLst>
            </a:prstGeom>
            <a:solidFill>
              <a:srgbClr val="CFDEEF">
                <a:alpha val="89803"/>
              </a:srgbClr>
            </a:solidFill>
            <a:ln cap="flat" cmpd="sng" w="12700">
              <a:solidFill>
                <a:srgbClr val="CFDEEF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6"/>
            <p:cNvSpPr txBox="1"/>
            <p:nvPr/>
          </p:nvSpPr>
          <p:spPr>
            <a:xfrm>
              <a:off x="2103890" y="1449947"/>
              <a:ext cx="1892345" cy="2078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65100" lIns="149250" spcFirstLastPara="1" rIns="149250" wrap="square" tIns="165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b="1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Clasificación de ocupaciones por nivel de riesgo</a:t>
              </a:r>
              <a:b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Una lista detallada de ocupaciones agrupadas en </a:t>
              </a:r>
              <a:r>
                <a:rPr b="1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alto, medio y bajo riesgo de automatización</a:t>
              </a: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útil para orientar decisiones de política pública, reconversión laboral y formación técnica.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6"/>
            <p:cNvSpPr/>
            <p:nvPr/>
          </p:nvSpPr>
          <p:spPr>
            <a:xfrm>
              <a:off x="4206496" y="484017"/>
              <a:ext cx="1892345" cy="72"/>
            </a:xfrm>
            <a:prstGeom prst="rect">
              <a:avLst/>
            </a:prstGeom>
            <a:solidFill>
              <a:srgbClr val="CFDEEF">
                <a:alpha val="89803"/>
              </a:srgbClr>
            </a:solidFill>
            <a:ln cap="flat" cmpd="sng" w="12700">
              <a:solidFill>
                <a:srgbClr val="CFDEEF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6"/>
            <p:cNvSpPr/>
            <p:nvPr/>
          </p:nvSpPr>
          <p:spPr>
            <a:xfrm>
              <a:off x="6149305" y="413405"/>
              <a:ext cx="96719" cy="181665"/>
            </a:xfrm>
            <a:prstGeom prst="chevron">
              <a:avLst>
                <a:gd fmla="val 90000" name="adj"/>
              </a:avLst>
            </a:prstGeom>
            <a:solidFill>
              <a:srgbClr val="CFDEEF">
                <a:alpha val="89803"/>
              </a:srgbClr>
            </a:solidFill>
            <a:ln cap="flat" cmpd="sng" w="12700">
              <a:solidFill>
                <a:srgbClr val="CFDEEF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6"/>
            <p:cNvSpPr/>
            <p:nvPr/>
          </p:nvSpPr>
          <p:spPr>
            <a:xfrm>
              <a:off x="4730844" y="62227"/>
              <a:ext cx="843651" cy="843651"/>
            </a:xfrm>
            <a:prstGeom prst="ellipse">
              <a:avLst/>
            </a:prstGeom>
            <a:solidFill>
              <a:srgbClr val="599BD5"/>
            </a:solidFill>
            <a:ln cap="flat" cmpd="sng" w="12700">
              <a:solidFill>
                <a:srgbClr val="599B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6"/>
            <p:cNvSpPr txBox="1"/>
            <p:nvPr/>
          </p:nvSpPr>
          <p:spPr>
            <a:xfrm>
              <a:off x="4854394" y="185777"/>
              <a:ext cx="596551" cy="596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2725" lIns="32725" spcFirstLastPara="1" rIns="32725" wrap="square" tIns="327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800"/>
                <a:buFont typeface="Calibri"/>
                <a:buNone/>
              </a:pPr>
              <a:r>
                <a:rPr b="0" i="0" lang="es-ES" sz="3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198" name="Google Shape;198;p6"/>
            <p:cNvSpPr/>
            <p:nvPr/>
          </p:nvSpPr>
          <p:spPr>
            <a:xfrm>
              <a:off x="4206496" y="1071478"/>
              <a:ext cx="1892345" cy="2457000"/>
            </a:xfrm>
            <a:prstGeom prst="upArrowCallout">
              <a:avLst>
                <a:gd fmla="val 50000" name="adj1"/>
                <a:gd fmla="val 20000" name="adj2"/>
                <a:gd fmla="val 20000" name="adj3"/>
                <a:gd fmla="val 100000" name="adj4"/>
              </a:avLst>
            </a:prstGeom>
            <a:solidFill>
              <a:srgbClr val="CFDEEF">
                <a:alpha val="89803"/>
              </a:srgbClr>
            </a:solidFill>
            <a:ln cap="flat" cmpd="sng" w="12700">
              <a:solidFill>
                <a:srgbClr val="CFDEEF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6"/>
            <p:cNvSpPr txBox="1"/>
            <p:nvPr/>
          </p:nvSpPr>
          <p:spPr>
            <a:xfrm>
              <a:off x="4206496" y="1449947"/>
              <a:ext cx="1892345" cy="2078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65100" lIns="149250" spcFirstLastPara="1" rIns="149250" wrap="square" tIns="165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b="1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Identificación de factores clave</a:t>
              </a:r>
              <a:b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Insights claros sobre qué características (ej. nivel de rutina, creatividad, destrezas manuales, exposición a IA generativa) explican el riesgo de sustitución en distintas ocupaciones.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6"/>
            <p:cNvSpPr/>
            <p:nvPr/>
          </p:nvSpPr>
          <p:spPr>
            <a:xfrm>
              <a:off x="6309103" y="484017"/>
              <a:ext cx="1892345" cy="72"/>
            </a:xfrm>
            <a:prstGeom prst="rect">
              <a:avLst/>
            </a:prstGeom>
            <a:solidFill>
              <a:srgbClr val="CFDEEF">
                <a:alpha val="89803"/>
              </a:srgbClr>
            </a:solidFill>
            <a:ln cap="flat" cmpd="sng" w="12700">
              <a:solidFill>
                <a:srgbClr val="CFDEEF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6"/>
            <p:cNvSpPr/>
            <p:nvPr/>
          </p:nvSpPr>
          <p:spPr>
            <a:xfrm>
              <a:off x="8251911" y="413405"/>
              <a:ext cx="96719" cy="181665"/>
            </a:xfrm>
            <a:prstGeom prst="chevron">
              <a:avLst>
                <a:gd fmla="val 90000" name="adj"/>
              </a:avLst>
            </a:prstGeom>
            <a:solidFill>
              <a:srgbClr val="CFDEEF">
                <a:alpha val="89803"/>
              </a:srgbClr>
            </a:solidFill>
            <a:ln cap="flat" cmpd="sng" w="12700">
              <a:solidFill>
                <a:srgbClr val="CFDEEF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6"/>
            <p:cNvSpPr/>
            <p:nvPr/>
          </p:nvSpPr>
          <p:spPr>
            <a:xfrm>
              <a:off x="6833450" y="62227"/>
              <a:ext cx="843651" cy="843651"/>
            </a:xfrm>
            <a:prstGeom prst="ellipse">
              <a:avLst/>
            </a:prstGeom>
            <a:solidFill>
              <a:srgbClr val="599BD5"/>
            </a:solidFill>
            <a:ln cap="flat" cmpd="sng" w="12700">
              <a:solidFill>
                <a:srgbClr val="599B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6"/>
            <p:cNvSpPr txBox="1"/>
            <p:nvPr/>
          </p:nvSpPr>
          <p:spPr>
            <a:xfrm>
              <a:off x="6957000" y="185777"/>
              <a:ext cx="596551" cy="596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2725" lIns="32725" spcFirstLastPara="1" rIns="32725" wrap="square" tIns="327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800"/>
                <a:buFont typeface="Calibri"/>
                <a:buNone/>
              </a:pPr>
              <a:r>
                <a:rPr b="0" i="0" lang="es-ES" sz="3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204" name="Google Shape;204;p6"/>
            <p:cNvSpPr/>
            <p:nvPr/>
          </p:nvSpPr>
          <p:spPr>
            <a:xfrm>
              <a:off x="6309103" y="1071478"/>
              <a:ext cx="1892345" cy="2457000"/>
            </a:xfrm>
            <a:prstGeom prst="upArrowCallout">
              <a:avLst>
                <a:gd fmla="val 50000" name="adj1"/>
                <a:gd fmla="val 20000" name="adj2"/>
                <a:gd fmla="val 20000" name="adj3"/>
                <a:gd fmla="val 100000" name="adj4"/>
              </a:avLst>
            </a:prstGeom>
            <a:solidFill>
              <a:srgbClr val="CFDEEF">
                <a:alpha val="89803"/>
              </a:srgbClr>
            </a:solidFill>
            <a:ln cap="flat" cmpd="sng" w="12700">
              <a:solidFill>
                <a:srgbClr val="CFDEEF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6"/>
            <p:cNvSpPr txBox="1"/>
            <p:nvPr/>
          </p:nvSpPr>
          <p:spPr>
            <a:xfrm>
              <a:off x="6309103" y="1449947"/>
              <a:ext cx="1892345" cy="2078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65100" lIns="149250" spcFirstLastPara="1" rIns="149250" wrap="square" tIns="165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b="1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Incorporación de nuevos indicadores</a:t>
              </a:r>
              <a:b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Inclusión y prueba de métricas emergentes como el </a:t>
              </a:r>
              <a:r>
                <a:rPr b="1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LLM Task Similarity Score</a:t>
              </a: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permitiendo capturar riesgos derivados de modelos como GPT‑4 y herramientas similares.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6"/>
            <p:cNvSpPr/>
            <p:nvPr/>
          </p:nvSpPr>
          <p:spPr>
            <a:xfrm>
              <a:off x="8411709" y="484016"/>
              <a:ext cx="946172" cy="72"/>
            </a:xfrm>
            <a:prstGeom prst="rect">
              <a:avLst/>
            </a:prstGeom>
            <a:solidFill>
              <a:srgbClr val="CFDEEF">
                <a:alpha val="89803"/>
              </a:srgbClr>
            </a:solidFill>
            <a:ln cap="flat" cmpd="sng" w="12700">
              <a:solidFill>
                <a:srgbClr val="CFDEEF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6"/>
            <p:cNvSpPr/>
            <p:nvPr/>
          </p:nvSpPr>
          <p:spPr>
            <a:xfrm>
              <a:off x="8936057" y="62227"/>
              <a:ext cx="843651" cy="843651"/>
            </a:xfrm>
            <a:prstGeom prst="ellipse">
              <a:avLst/>
            </a:prstGeom>
            <a:solidFill>
              <a:srgbClr val="599BD5"/>
            </a:solidFill>
            <a:ln cap="flat" cmpd="sng" w="12700">
              <a:solidFill>
                <a:srgbClr val="599B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6"/>
            <p:cNvSpPr txBox="1"/>
            <p:nvPr/>
          </p:nvSpPr>
          <p:spPr>
            <a:xfrm>
              <a:off x="9059607" y="185777"/>
              <a:ext cx="596551" cy="596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2725" lIns="32725" spcFirstLastPara="1" rIns="32725" wrap="square" tIns="327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800"/>
                <a:buFont typeface="Calibri"/>
                <a:buNone/>
              </a:pPr>
              <a:r>
                <a:rPr b="0" i="0" lang="es-ES" sz="3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8411709" y="1071478"/>
              <a:ext cx="1892345" cy="2457000"/>
            </a:xfrm>
            <a:prstGeom prst="upArrowCallout">
              <a:avLst>
                <a:gd fmla="val 50000" name="adj1"/>
                <a:gd fmla="val 20000" name="adj2"/>
                <a:gd fmla="val 20000" name="adj3"/>
                <a:gd fmla="val 100000" name="adj4"/>
              </a:avLst>
            </a:prstGeom>
            <a:solidFill>
              <a:srgbClr val="CFDEEF">
                <a:alpha val="89803"/>
              </a:srgbClr>
            </a:solidFill>
            <a:ln cap="flat" cmpd="sng" w="12700">
              <a:solidFill>
                <a:srgbClr val="CFDEEF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6"/>
            <p:cNvSpPr txBox="1"/>
            <p:nvPr/>
          </p:nvSpPr>
          <p:spPr>
            <a:xfrm>
              <a:off x="8411709" y="1449947"/>
              <a:ext cx="1892345" cy="2078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65100" lIns="149250" spcFirstLastPara="1" rIns="149250" wrap="square" tIns="165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b="1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Herramienta visual o dashboard interactivo</a:t>
              </a:r>
              <a:b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Un prototipo de aplicación web que permita consultar de forma simple el riesgo de automatización por ocupación, facilitando el uso del modelo por parte de instituciones educativas, empresas o gobiernos.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"/>
          <p:cNvSpPr txBox="1"/>
          <p:nvPr/>
        </p:nvSpPr>
        <p:spPr>
          <a:xfrm>
            <a:off x="7643191" y="6310289"/>
            <a:ext cx="40551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1" sz="1800" u="none" cap="small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Google Shape;216;p7"/>
          <p:cNvSpPr txBox="1"/>
          <p:nvPr/>
        </p:nvSpPr>
        <p:spPr>
          <a:xfrm>
            <a:off x="560018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80"/>
              </a:buClr>
              <a:buSzPts val="4000"/>
              <a:buFont typeface="Calibri"/>
              <a:buNone/>
            </a:pPr>
            <a:r>
              <a:rPr b="0" i="0" lang="es-ES" sz="4000" u="none" cap="small" strike="noStrike">
                <a:solidFill>
                  <a:srgbClr val="002780"/>
                </a:solidFill>
                <a:latin typeface="Calibri"/>
                <a:ea typeface="Calibri"/>
                <a:cs typeface="Calibri"/>
                <a:sym typeface="Calibri"/>
              </a:rPr>
              <a:t>Cronograma</a:t>
            </a:r>
            <a:endParaRPr/>
          </a:p>
        </p:txBody>
      </p:sp>
      <p:pic>
        <p:nvPicPr>
          <p:cNvPr id="217" name="Google Shape;21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42684" y="6182398"/>
            <a:ext cx="1761393" cy="675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7"/>
          <p:cNvPicPr preferRelativeResize="0"/>
          <p:nvPr/>
        </p:nvPicPr>
        <p:blipFill rotWithShape="1">
          <a:blip r:embed="rId4">
            <a:alphaModFix/>
          </a:blip>
          <a:srcRect b="17234" l="0" r="0" t="0"/>
          <a:stretch/>
        </p:blipFill>
        <p:spPr>
          <a:xfrm>
            <a:off x="87923" y="6211299"/>
            <a:ext cx="2580521" cy="617799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7"/>
          <p:cNvSpPr txBox="1"/>
          <p:nvPr/>
        </p:nvSpPr>
        <p:spPr>
          <a:xfrm>
            <a:off x="706315" y="1325562"/>
            <a:ext cx="10515600" cy="5062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0" name="Google Shape;220;p7"/>
          <p:cNvGraphicFramePr/>
          <p:nvPr/>
        </p:nvGraphicFramePr>
        <p:xfrm>
          <a:off x="121685" y="1262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{6908C3E7-59CD-4291-B1E9-87A5D1F1BDEB}</a:tableStyleId>
              </a:tblPr>
              <a:tblGrid>
                <a:gridCol w="1859550"/>
                <a:gridCol w="2210950"/>
                <a:gridCol w="2236375"/>
                <a:gridCol w="2515925"/>
                <a:gridCol w="3125850"/>
              </a:tblGrid>
              <a:tr h="548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Etapa / Actividad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2025B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2026A 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2026B  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2027A  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</a:tr>
              <a:tr h="328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Revisión de literatura y antecedentes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✅ Agosto – Septiembre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</a:tr>
              <a:tr h="328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Correción de marco teórico y definición metodológica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✅ Septiembre – Octubre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</a:tr>
              <a:tr h="43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Obtención y limpieza de datos (INEGI, O*NET)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✅ Octubre– Noviembre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</a:tr>
              <a:tr h="328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Mapeo y normalización de ocupaciones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✅ Noviembre – Enero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</a:tr>
              <a:tr h="328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Cálculo de índices (RTI, Creativity, etc.)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✅ Feb–Mar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</a:tr>
              <a:tr h="43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Incorporación de indicadores emergentes de IA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✅ Mar–Abr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</a:tr>
              <a:tr h="328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Desarrollo y entrenamiento de modelos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✅ May–Jul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✅ Ago–Sep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</a:tr>
              <a:tr h="328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Evaluación y validación del modelo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✅ Sep–Nov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</a:tr>
              <a:tr h="328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Visualización y desarrollo del dashboard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✅ Nov–Ene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</a:tr>
              <a:tr h="43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Redacción de resultados y análisis de impacto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✅ Ene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✅ Feb–Mar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</a:tr>
              <a:tr h="43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Escritura y revisión del documento final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✅ Mar–Jun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</a:tr>
              <a:tr h="328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Presentación y defensa del trabajo de tesis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cap="none" strike="noStrike"/>
                        <a:t>✅ Jul 2027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5" marB="0" marR="3325" marL="33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"/>
          <p:cNvSpPr txBox="1"/>
          <p:nvPr/>
        </p:nvSpPr>
        <p:spPr>
          <a:xfrm>
            <a:off x="7643191" y="6310289"/>
            <a:ext cx="40551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1" sz="1800" u="none" cap="small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6" name="Google Shape;226;p8"/>
          <p:cNvSpPr txBox="1"/>
          <p:nvPr/>
        </p:nvSpPr>
        <p:spPr>
          <a:xfrm>
            <a:off x="560018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80"/>
              </a:buClr>
              <a:buSzPts val="4000"/>
              <a:buFont typeface="Calibri"/>
              <a:buNone/>
            </a:pPr>
            <a:r>
              <a:rPr b="0" i="0" lang="es-ES" sz="4000" u="none" cap="small" strike="noStrike">
                <a:solidFill>
                  <a:srgbClr val="002780"/>
                </a:solidFill>
                <a:latin typeface="Calibri"/>
                <a:ea typeface="Calibri"/>
                <a:cs typeface="Calibri"/>
                <a:sym typeface="Calibri"/>
              </a:rPr>
              <a:t>Gracias</a:t>
            </a:r>
            <a:endParaRPr/>
          </a:p>
        </p:txBody>
      </p:sp>
      <p:pic>
        <p:nvPicPr>
          <p:cNvPr id="227" name="Google Shape;22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42684" y="6182398"/>
            <a:ext cx="1761393" cy="675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8"/>
          <p:cNvPicPr preferRelativeResize="0"/>
          <p:nvPr/>
        </p:nvPicPr>
        <p:blipFill rotWithShape="1">
          <a:blip r:embed="rId4">
            <a:alphaModFix/>
          </a:blip>
          <a:srcRect b="17234" l="0" r="0" t="0"/>
          <a:stretch/>
        </p:blipFill>
        <p:spPr>
          <a:xfrm>
            <a:off x="87923" y="6211299"/>
            <a:ext cx="2580521" cy="617799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8"/>
          <p:cNvSpPr txBox="1"/>
          <p:nvPr/>
        </p:nvSpPr>
        <p:spPr>
          <a:xfrm>
            <a:off x="706315" y="2546030"/>
            <a:ext cx="10515600" cy="36966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Carlos Pulido Rosas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Más información acerca de este tema: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Datos de contacto: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+52 3310305580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carlos.pulido.rosas@gmail.com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2021-11-10T18:45:26Z</dcterms:created>
  <dc:creator>MCD</dc:creator>
</cp:coreProperties>
</file>