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8" r:id="rId8"/>
    <p:sldId id="269" r:id="rId9"/>
    <p:sldId id="267" r:id="rId10"/>
    <p:sldId id="261" r:id="rId11"/>
    <p:sldId id="262" r:id="rId12"/>
    <p:sldId id="263" r:id="rId13"/>
  </p:sldIdLst>
  <p:sldSz cx="12192000" cy="6858000"/>
  <p:notesSz cx="6858000" cy="9144000"/>
  <p:embeddedFontLst>
    <p:embeddedFont>
      <p:font typeface="Cambria Math" panose="02040503050406030204" pitchFamily="18" charset="0"/>
      <p:regular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huCtx2zBjcZP2zPfIDbDIRvP+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8C3E7-59CD-4291-B1E9-87A5D1F1BDEB}">
  <a:tblStyle styleId="{6908C3E7-59CD-4291-B1E9-87A5D1F1BD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4F9F0E-7B85-714B-2365-4FD674DCE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5B286405-E7E1-D0C0-9516-8F7F99CF23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CD705BD3-4F91-94A8-9C80-EFD066B78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902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CAE0F1-58CE-9F95-B113-F84EA037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7BF899A3-E8F6-C6F3-3A5B-427F310C3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85FE651C-9B04-C61D-0884-E3FCA6394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5494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A4822AB8-3EB4-C8DF-9411-062378D2C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D537E0F7-5A4B-A093-A3EC-12CF2E020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74B5C977-CCB9-8C1C-71C8-7B255F0332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6886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543FED5-DD2A-C59D-11FB-91CB78AD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50096198-8F2F-B1BB-A2A3-BBE92E6CC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08F0911D-52EC-58C7-0642-0FC2F7D93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7744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305740" y="88474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6000"/>
              <a:buFont typeface="Century Gothic"/>
              <a:buNone/>
            </a:pPr>
            <a:r>
              <a:rPr lang="es-ES" sz="44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Presentación de Proyectos</a:t>
            </a:r>
            <a:br>
              <a:rPr lang="es-ES" sz="44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44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Aspirantes 2025B</a:t>
            </a:r>
            <a:br>
              <a:rPr lang="es-ES" sz="4800" cap="small">
                <a:solidFill>
                  <a:srgbClr val="00278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ES" sz="2800" b="1" cap="small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Maestría en ciencias de los datos</a:t>
            </a:r>
            <a:br>
              <a:rPr lang="es-ES" sz="28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000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Centro Universitario de Ciencias Económico-Administrativas</a:t>
            </a:r>
            <a:endParaRPr cap="small">
              <a:solidFill>
                <a:srgbClr val="0027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entury Gothic"/>
              <a:buNone/>
            </a:pPr>
            <a:r>
              <a:rPr lang="es-ES" sz="1800" b="0" i="1" u="none" strike="noStrike" cap="small">
                <a:solidFill>
                  <a:srgbClr val="1E4E7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Fecha 27 de JUNIO de </a:t>
            </a:r>
            <a:r>
              <a:rPr lang="es-ES" sz="1800" b="0" i="1" u="none" strike="noStrike" cap="small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2025</a:t>
            </a:r>
            <a:endParaRPr sz="1800" b="0" i="1" u="none" strike="noStrike" cap="small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0371" y="213692"/>
            <a:ext cx="1976470" cy="758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39" y="361554"/>
            <a:ext cx="2931055" cy="6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305740" y="3063275"/>
            <a:ext cx="9144000" cy="3106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endParaRPr sz="2220" b="1" i="0" u="none" strike="noStrike" cap="small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endParaRPr sz="2220" b="1" i="0" u="none" strike="noStrike" cap="small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rPr lang="es-ES" sz="2220" b="1" i="0" u="none" strike="noStrike" cap="small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Carlos Pulido Rosas</a:t>
            </a:r>
            <a:endParaRPr dirty="0"/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rPr lang="es-ES" sz="2220" b="1" i="0" u="none" strike="noStrike" cap="small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r>
              <a:rPr lang="es-E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predictivo de riesgo de sustitución laboral por Inteligencia Artificial usando características de ocupaciones y tendencias socioeconómicas”</a:t>
            </a:r>
            <a:endParaRPr dirty="0"/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(caso Jalisco 2025</a:t>
            </a:r>
            <a:r>
              <a:rPr lang="es-ES" sz="1800" b="0" i="0" u="none" strike="noStrike" cap="none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‑</a:t>
            </a:r>
            <a:r>
              <a:rPr lang="es-E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2030).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2780"/>
              </a:buClr>
              <a:buSzPts val="1480"/>
              <a:buFont typeface="Arial"/>
              <a:buNone/>
            </a:pPr>
            <a:r>
              <a:rPr lang="es-ES" sz="1480" b="1" i="1" u="none" strike="noStrike" cap="small" dirty="0">
                <a:solidFill>
                  <a:srgbClr val="00278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Línea de generación y aplicación del conocimiento</a:t>
            </a:r>
            <a:endParaRPr dirty="0"/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2780"/>
              </a:buClr>
              <a:buSzPts val="1480"/>
              <a:buFont typeface="Arial"/>
              <a:buNone/>
            </a:pPr>
            <a:r>
              <a:rPr lang="es-ES" sz="1480" b="1" i="1" u="none" strike="noStrike" cap="small" dirty="0">
                <a:solidFill>
                  <a:srgbClr val="00278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SMART DATA</a:t>
            </a:r>
            <a:endParaRPr sz="2400" b="0" i="0" u="none" strike="noStrike" cap="non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2780"/>
              </a:buClr>
              <a:buSzPts val="1295"/>
              <a:buFont typeface="Arial"/>
              <a:buNone/>
            </a:pPr>
            <a:endParaRPr sz="1850" b="0" i="0" u="none" strike="noStrike" cap="small" dirty="0">
              <a:solidFill>
                <a:srgbClr val="00278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8" name="Google Shape;98;p2" descr="A logo with blue and red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I. Problemática y/o contexto del problema</a:t>
            </a:r>
            <a:endParaRPr/>
          </a:p>
        </p:txBody>
      </p:sp>
      <p:pic>
        <p:nvPicPr>
          <p:cNvPr id="100" name="Google Shape;100;p2" descr="A blue and white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2"/>
          <p:cNvGrpSpPr/>
          <p:nvPr/>
        </p:nvGrpSpPr>
        <p:grpSpPr>
          <a:xfrm>
            <a:off x="265176" y="1201259"/>
            <a:ext cx="11116056" cy="4698540"/>
            <a:chOff x="0" y="104219"/>
            <a:chExt cx="11116056" cy="4698540"/>
          </a:xfrm>
        </p:grpSpPr>
        <p:sp>
          <p:nvSpPr>
            <p:cNvPr id="102" name="Google Shape;102;p2"/>
            <p:cNvSpPr/>
            <p:nvPr/>
          </p:nvSpPr>
          <p:spPr>
            <a:xfrm>
              <a:off x="0" y="104219"/>
              <a:ext cx="11116056" cy="52767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25759" y="129978"/>
              <a:ext cx="11064538" cy="4761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s-ES" sz="2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Planteamiento del problema y preguntas de investigación</a:t>
              </a:r>
              <a:endParaRPr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0" y="631889"/>
              <a:ext cx="11116056" cy="2368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631889"/>
              <a:ext cx="11116056" cy="2368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27925" rIns="156450" bIns="279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s-ES" sz="1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 adopción acelerada de IA está transformando el empleo global. En México, sectores como manufactura y servicios enfrentan incertidumbre sobre qué ocupaciones serán sustituidas o transformadas. Sin herramientas locales, gobiernos y empresas carecen de datos para anticipar estos cambios. Se requiere un modelo predictivo, basado en datos del INEGI, que estime el riesgo de sustitución laboral en Jalisco (2025–2030).</a:t>
              </a:r>
              <a:endParaRPr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lang="es-ES" sz="1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Preguntas de Investigación:</a:t>
              </a:r>
              <a:endParaRPr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2" indent="-171450" algn="l" rtl="0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lang="es-ES" sz="1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¿Qué características ocupacionales están asociadas al riesgo de sustitución por IA?</a:t>
              </a:r>
              <a:endParaRPr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2" indent="-171450" algn="l" rtl="0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lang="es-ES" sz="1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¿Qué grupos poblacionales serían más vulnerables en Jalisco?</a:t>
              </a:r>
              <a:endParaRPr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2" indent="-171450" algn="l" rtl="0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lang="es-ES" sz="1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¿Qué sectores requieren mayor atención en políticas de reconversión laboral?</a:t>
              </a:r>
              <a:endParaRPr sz="17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0" y="2999969"/>
              <a:ext cx="11116056" cy="52767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25759" y="3025728"/>
              <a:ext cx="11064538" cy="4761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3800" tIns="83800" rIns="83800" bIns="838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es-ES" sz="22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Bases Teóricas:</a:t>
              </a:r>
              <a:endParaRPr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0" y="3527639"/>
              <a:ext cx="11116056" cy="1275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3527639"/>
              <a:ext cx="11116056" cy="1275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27925" rIns="156450" bIns="279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lang="es-ES" sz="1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Economía del trabajo</a:t>
              </a:r>
              <a:r>
                <a:rPr lang="es-ES" sz="1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análisis de sustitución capital-trabajo y desplazamiento tecnológico.</a:t>
              </a:r>
              <a:endParaRPr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lang="es-ES" sz="1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Teoría de habilidades específicas vs. transferibles</a:t>
              </a:r>
              <a:r>
                <a:rPr lang="es-ES" sz="1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 ocupaciones con habilidades transferibles presentan menor riesgo de sustitución.</a:t>
              </a:r>
              <a:endParaRPr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4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Char char="•"/>
              </a:pPr>
              <a:r>
                <a:rPr lang="es-ES" sz="1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Modelos predictivos con machine </a:t>
              </a:r>
              <a:r>
                <a:rPr lang="es-ES" sz="1700" b="1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learning</a:t>
              </a:r>
              <a:r>
                <a:rPr lang="es-ES" sz="17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es-ES" sz="1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clasificación supervisada con algoritmos como </a:t>
              </a:r>
              <a:r>
                <a:rPr lang="es-ES" sz="17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Random</a:t>
              </a:r>
              <a:r>
                <a:rPr lang="es-ES" sz="1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Forest o regresión logística, usados para estimar probabilidades de </a:t>
              </a:r>
              <a:r>
                <a:rPr lang="es-ES" sz="1700" b="0" i="0" u="none" strike="noStrike" cap="none" dirty="0" err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sustitución.Bases</a:t>
              </a:r>
              <a:r>
                <a:rPr lang="es-ES" sz="17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teóricas</a:t>
              </a:r>
              <a:endParaRPr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5" name="Google Shape;115;p3" descr="A logo with blue and red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I. Problemática y/o contexto del problema</a:t>
            </a:r>
            <a:endParaRPr sz="4000" b="0" i="0" u="none" strike="noStrike" cap="small">
              <a:solidFill>
                <a:srgbClr val="0027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 descr="A blue and white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3"/>
          <p:cNvGrpSpPr/>
          <p:nvPr/>
        </p:nvGrpSpPr>
        <p:grpSpPr>
          <a:xfrm>
            <a:off x="265176" y="1140014"/>
            <a:ext cx="11116056" cy="4821030"/>
            <a:chOff x="0" y="42974"/>
            <a:chExt cx="11116056" cy="482103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42974"/>
              <a:ext cx="11116056" cy="551655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26930" y="69904"/>
              <a:ext cx="11062196" cy="49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s-ES" sz="23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Objetivos</a:t>
              </a:r>
              <a:endParaRPr sz="2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0" y="594629"/>
              <a:ext cx="11116056" cy="147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0" y="594629"/>
              <a:ext cx="11116056" cy="14759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22850" rIns="128000" bIns="2285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Desarrollar un modelo predictivo para estimar el riesgo de sustitución laboral por IA en Jalisco entre 2025 y 2030.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Identificar variables clave de ocupaciones y contexto socioeconómico.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Aplicar técnicas de </a:t>
              </a:r>
              <a:r>
                <a:rPr lang="es-ES" sz="18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machine learning </a:t>
              </a:r>
              <a:r>
                <a:rPr lang="es-E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sobre datos del INEGI.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Clasificar ocupaciones según su nivel de riesgo.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0" y="2333855"/>
              <a:ext cx="11116056" cy="551655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26930" y="2360785"/>
              <a:ext cx="11062196" cy="49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s-ES" sz="23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Hipótesis</a:t>
              </a:r>
              <a:endPara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0" y="2622194"/>
              <a:ext cx="11116056" cy="8569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0" y="2622194"/>
              <a:ext cx="11116056" cy="8569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29200" rIns="163575" bIns="29200" anchor="t" anchorCtr="0">
              <a:noAutofit/>
            </a:bodyPr>
            <a:lstStyle/>
            <a:p>
              <a:pPr marL="171450" marR="0" lvl="1" indent="-571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Las ocupaciones con baja calificación técnica, alta repetitividad y menor escolaridad presentan mayor riesgo de ser sustituidas por IA.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0" y="3479174"/>
              <a:ext cx="11116056" cy="551655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26930" y="3506104"/>
              <a:ext cx="11062196" cy="497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Arial"/>
                <a:buNone/>
              </a:pPr>
              <a:r>
                <a:rPr lang="es-ES" sz="23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Justificación</a:t>
              </a:r>
              <a:endParaRPr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0" y="4030829"/>
              <a:ext cx="11116056" cy="833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4030829"/>
              <a:ext cx="11116056" cy="833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29200" rIns="163575" bIns="29200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lang="es-E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Este modelo ofrecerá una herramienta práctica para gobiernos, empresas y trabajadores que facilite la planeación de políticas públicas, reconversión laboral y estrategias educativas ante los efectos de la automatización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6" name="Google Shape;136;p4" descr="A logo with blue and red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II. Marco teórico</a:t>
            </a:r>
            <a:endParaRPr/>
          </a:p>
        </p:txBody>
      </p:sp>
      <p:pic>
        <p:nvPicPr>
          <p:cNvPr id="138" name="Google Shape;138;p4" descr="A blue and white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4"/>
          <p:cNvGrpSpPr/>
          <p:nvPr/>
        </p:nvGrpSpPr>
        <p:grpSpPr>
          <a:xfrm>
            <a:off x="265176" y="1218134"/>
            <a:ext cx="11116056" cy="4664790"/>
            <a:chOff x="0" y="121094"/>
            <a:chExt cx="11116056" cy="4664790"/>
          </a:xfrm>
        </p:grpSpPr>
        <p:sp>
          <p:nvSpPr>
            <p:cNvPr id="140" name="Google Shape;140;p4"/>
            <p:cNvSpPr/>
            <p:nvPr/>
          </p:nvSpPr>
          <p:spPr>
            <a:xfrm>
              <a:off x="0" y="121094"/>
              <a:ext cx="11116056" cy="62361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30442" y="151536"/>
              <a:ext cx="11055172" cy="5627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ES" sz="2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Antecedentes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0" y="744704"/>
              <a:ext cx="11116056" cy="1829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0" y="744704"/>
              <a:ext cx="11116056" cy="1829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33000" rIns="184900" bIns="330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Frey &amp; Osborne (2013): </a:t>
              </a: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Desarrollaron un modelo para estimar la probabilidad de automatización de 702 ocupaciones en EE. UU., basado en tareas rutinarias y no rutinarias, combinando análisis de expertos y </a:t>
              </a:r>
              <a:r>
                <a:rPr lang="es-ES" sz="20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</a:t>
              </a: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Su enfoque ha sido replicado y adaptado en diversos países.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 </a:t>
              </a:r>
              <a:r>
                <a:rPr lang="es-E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OCDE (2016): </a:t>
              </a: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Propuso un enfoque alternativo que mide el riesgo de automatización a nivel de tareas, utilizando microdatos de encuestas laborales. Resaltando que el riesgo varía incluso dentro de una misma ocupación.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2574584"/>
              <a:ext cx="11116056" cy="62361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30442" y="2605026"/>
              <a:ext cx="11055172" cy="5627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ES" sz="2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Bases Teóricas: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0" y="3198194"/>
              <a:ext cx="11116056" cy="1587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0" y="3198194"/>
              <a:ext cx="11116056" cy="1587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33000" rIns="184900" bIns="330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Economía del trabajo</a:t>
              </a: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análisis de sustitución capital-trabajo y desplazamiento tecnológico.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Teoría de habilidades específicas vs. transferibles</a:t>
              </a: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ocupaciones con habilidades transferibles presentan menor riesgo de sustitución.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E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Modelos predictivos con machine learning:</a:t>
              </a:r>
              <a:r>
                <a:rPr lang="es-E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clasificación supervisada con algoritmos como Random Forest o regresión logística, usados para estimar probabilidades de sustitución.Bases teóricas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3" name="Google Shape;153;p5" descr="A logo with blue and red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III. Contexto metodológico</a:t>
            </a:r>
            <a:endParaRPr/>
          </a:p>
        </p:txBody>
      </p:sp>
      <p:pic>
        <p:nvPicPr>
          <p:cNvPr id="155" name="Google Shape;155;p5" descr="A blue and white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5"/>
          <p:cNvGrpSpPr/>
          <p:nvPr/>
        </p:nvGrpSpPr>
        <p:grpSpPr>
          <a:xfrm>
            <a:off x="265176" y="1321274"/>
            <a:ext cx="11116056" cy="4458510"/>
            <a:chOff x="0" y="224234"/>
            <a:chExt cx="11116056" cy="4458510"/>
          </a:xfrm>
        </p:grpSpPr>
        <p:sp>
          <p:nvSpPr>
            <p:cNvPr id="157" name="Google Shape;157;p5"/>
            <p:cNvSpPr/>
            <p:nvPr/>
          </p:nvSpPr>
          <p:spPr>
            <a:xfrm>
              <a:off x="0" y="224234"/>
              <a:ext cx="11116056" cy="33579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16392" y="24062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E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de Fuentes y Normalización</a:t>
              </a: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560024"/>
              <a:ext cx="11116056" cy="565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0" y="560024"/>
              <a:ext cx="11116056" cy="565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17775" rIns="99550" bIns="17775" anchor="t" anchorCtr="0">
              <a:noAutofit/>
            </a:bodyPr>
            <a:lstStyle/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Vinculación entre códigos ocupacionales </a:t>
              </a: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CNO-INEGI(México)</a:t>
              </a: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ISCO-08(Datos de normalización)</a:t>
              </a: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y </a:t>
              </a: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O*NET </a:t>
              </a: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-&gt; </a:t>
              </a: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SOC 2019 (EE. UU.)</a:t>
              </a: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Estandarización de variables para lograr comparabilidad internacional.</a:t>
              </a:r>
              <a:endParaRPr/>
            </a:p>
            <a:p>
              <a:pPr marL="57150" marR="0" lvl="1" indent="-69850" algn="l" rtl="0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Fusión de datos de </a:t>
              </a: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INEGI, O*NET, WEF</a:t>
              </a: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y estudios recientes sobre automatización.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1125134"/>
              <a:ext cx="11116056" cy="33579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16392" y="114152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E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 e Índices Avanzados</a:t>
              </a: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1460924"/>
              <a:ext cx="11116056" cy="1072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0" y="1460924"/>
              <a:ext cx="11116056" cy="1072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17775" rIns="99550" bIns="17775" anchor="t" anchorCtr="0">
              <a:noAutofit/>
            </a:bodyPr>
            <a:lstStyle/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Índice de Rutina (RTI):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la cual mide tareas repetitivas</a:t>
              </a:r>
              <a:endParaRPr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Creativity</a:t>
              </a: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Score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Destreza Manual </a:t>
              </a:r>
              <a:r>
                <a:rPr lang="es-ES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Index</a:t>
              </a: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estiman dificultad de automatización de cada trabajo.</a:t>
              </a:r>
              <a:endParaRPr dirty="0"/>
            </a:p>
            <a:p>
              <a:pPr marL="57150" marR="0" lvl="1" indent="-69850" algn="l" rtl="0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Para reflejar el impacto de tecnologías recientes como GPT‑4, Claude o </a:t>
              </a:r>
              <a:r>
                <a:rPr lang="es-ES" sz="11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Copilot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se incorporarán nuevos indicadores relacionados con IA generativa, actualmente en desarrollo. Estos permitirán capturar riesgos que van más allá del enfoque tradicional de automatización.</a:t>
              </a:r>
              <a:endParaRPr dirty="0"/>
            </a:p>
            <a:p>
              <a:pPr marL="57150" marR="0" lvl="1" indent="-69850" algn="l" rtl="0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Ejemplo: LLM </a:t>
              </a:r>
              <a:r>
                <a:rPr lang="es-ES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Task</a:t>
              </a: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ES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Similarity</a:t>
              </a: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Score: 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Este indicador mide la similitud entre las tareas de una ocupación y las capacidades actuales de modelos de lenguaje (</a:t>
              </a:r>
              <a:r>
                <a:rPr lang="es-ES" sz="11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LLMs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). A mayor similitud, mayor es el riesgo de que dicha ocupación pueda ser automatizada por IA generativa. Esto es especialmente relevante en trabajos administrativos, creativos o analíticos.</a:t>
              </a:r>
              <a:endParaRPr dirty="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533184"/>
              <a:ext cx="11116056" cy="33579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16392" y="254957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E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Herramientas</a:t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868974"/>
              <a:ext cx="11116056" cy="376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 txBox="1"/>
            <p:nvPr/>
          </p:nvSpPr>
          <p:spPr>
            <a:xfrm>
              <a:off x="0" y="2868974"/>
              <a:ext cx="11116056" cy="376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17775" rIns="99550" bIns="17775" anchor="t" anchorCtr="0">
              <a:noAutofit/>
            </a:bodyPr>
            <a:lstStyle/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Python – Algoritmos (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Pandas</a:t>
              </a: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s-ES" sz="11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scikit‑learn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s-ES" sz="11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matplotlib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s-ES" sz="11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pyspark</a:t>
              </a:r>
              <a:endParaRPr sz="11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3261264"/>
              <a:ext cx="11116056" cy="33579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16392" y="327765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ES" sz="14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Modelado Predictivo</a:t>
              </a: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3581504"/>
              <a:ext cx="11116056" cy="1101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0" y="3581504"/>
              <a:ext cx="11116056" cy="1101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17775" rIns="99550" bIns="17775" anchor="t" anchorCtr="0">
              <a:noAutofit/>
            </a:bodyPr>
            <a:lstStyle/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Para estimar el riesgo de sustitución laboral por IA, se utilizará un enfoque de </a:t>
              </a: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aprendizaje supervisado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basado en algoritmos de clasificación. El objetivo es predecir la probabilidad de automatización de cada ocupación, a partir de sus características (nivel de rutina, creatividad, habilidades técnicas, etc.).</a:t>
              </a:r>
              <a:endParaRPr dirty="0"/>
            </a:p>
            <a:p>
              <a:pPr marL="57150" marR="0" lvl="1" indent="-69850" algn="l" rtl="0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Algoritmos principales</a:t>
              </a:r>
              <a:endParaRPr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14300" marR="0" lvl="2" indent="-69850" algn="l" rtl="0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Regresión Logística: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modelo estadístico tradicional para clasificación binaria o probabilística.</a:t>
              </a:r>
              <a:endParaRPr dirty="0"/>
            </a:p>
            <a:p>
              <a:pPr marL="114300" marR="0" lvl="2" indent="-69850" algn="l" rtl="0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Random</a:t>
              </a: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Forest: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método basado en múltiples árboles de decisión que mejora la precisión mediante votación.</a:t>
              </a:r>
              <a:endParaRPr dirty="0"/>
            </a:p>
            <a:p>
              <a:pPr marL="114300" marR="0" lvl="2" indent="-69850" algn="l" rtl="0">
                <a:lnSpc>
                  <a:spcPct val="90000"/>
                </a:lnSpc>
                <a:spcBef>
                  <a:spcPts val="22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LightGBM</a:t>
              </a: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lang="es-ES" sz="11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algoritmo de gradiente optimizado para alto rendimiento, ideal para conjuntos de datos estructurados.</a:t>
              </a: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D57AA45F-A15D-0A50-73A4-B336DFD7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5386AAF9-BC09-7E2F-F536-FE52B26F87E7}"/>
              </a:ext>
            </a:extLst>
          </p:cNvPr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3" name="Google Shape;153;p5" descr="A logo with blue and red text&#10;&#10;AI-generated content may be incorrect.">
            <a:extLst>
              <a:ext uri="{FF2B5EF4-FFF2-40B4-BE49-F238E27FC236}">
                <a16:creationId xmlns:a16="http://schemas.microsoft.com/office/drawing/2014/main" id="{98CDCFFF-5F44-C881-9255-A0AD39BDB5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>
            <a:extLst>
              <a:ext uri="{FF2B5EF4-FFF2-40B4-BE49-F238E27FC236}">
                <a16:creationId xmlns:a16="http://schemas.microsoft.com/office/drawing/2014/main" id="{BEBD5E5B-5164-0778-2711-C7BB7140A11C}"/>
              </a:ext>
            </a:extLst>
          </p:cNvPr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III. Resultados preli</a:t>
            </a:r>
            <a:r>
              <a:rPr lang="es-ES" sz="4000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minares</a:t>
            </a:r>
            <a:endParaRPr dirty="0"/>
          </a:p>
        </p:txBody>
      </p:sp>
      <p:pic>
        <p:nvPicPr>
          <p:cNvPr id="155" name="Google Shape;155;p5" descr="A blue and white logo&#10;&#10;AI-generated content may be incorrect.">
            <a:extLst>
              <a:ext uri="{FF2B5EF4-FFF2-40B4-BE49-F238E27FC236}">
                <a16:creationId xmlns:a16="http://schemas.microsoft.com/office/drawing/2014/main" id="{108CB8F2-F8F9-EFE4-FF60-730E1BFF43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5">
            <a:extLst>
              <a:ext uri="{FF2B5EF4-FFF2-40B4-BE49-F238E27FC236}">
                <a16:creationId xmlns:a16="http://schemas.microsoft.com/office/drawing/2014/main" id="{BA31ED76-EE52-A3C3-B406-DFA8AEECBC18}"/>
              </a:ext>
            </a:extLst>
          </p:cNvPr>
          <p:cNvGrpSpPr/>
          <p:nvPr/>
        </p:nvGrpSpPr>
        <p:grpSpPr>
          <a:xfrm>
            <a:off x="182880" y="1051560"/>
            <a:ext cx="11280648" cy="4889219"/>
            <a:chOff x="-82296" y="224234"/>
            <a:chExt cx="11280648" cy="4610321"/>
          </a:xfrm>
        </p:grpSpPr>
        <p:sp>
          <p:nvSpPr>
            <p:cNvPr id="157" name="Google Shape;157;p5">
              <a:extLst>
                <a:ext uri="{FF2B5EF4-FFF2-40B4-BE49-F238E27FC236}">
                  <a16:creationId xmlns:a16="http://schemas.microsoft.com/office/drawing/2014/main" id="{147E664B-9F60-695C-8542-036976CCA32A}"/>
                </a:ext>
              </a:extLst>
            </p:cNvPr>
            <p:cNvSpPr/>
            <p:nvPr/>
          </p:nvSpPr>
          <p:spPr>
            <a:xfrm>
              <a:off x="0" y="224234"/>
              <a:ext cx="11116056" cy="33579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>
              <a:extLst>
                <a:ext uri="{FF2B5EF4-FFF2-40B4-BE49-F238E27FC236}">
                  <a16:creationId xmlns:a16="http://schemas.microsoft.com/office/drawing/2014/main" id="{9B0C60C9-8246-813D-89D2-A52147C4F437}"/>
                </a:ext>
              </a:extLst>
            </p:cNvPr>
            <p:cNvSpPr txBox="1"/>
            <p:nvPr/>
          </p:nvSpPr>
          <p:spPr>
            <a:xfrm>
              <a:off x="16392" y="24062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ES" sz="14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Datos Utilizados co</a:t>
              </a:r>
              <a:r>
                <a:rPr lang="es-ES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 modelo </a:t>
              </a:r>
              <a:r>
                <a:rPr lang="es-ES" b="1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Baseline</a:t>
              </a:r>
              <a:r>
                <a:rPr lang="es-ES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de (Frey-Osborne, 2017)</a:t>
              </a: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>
              <a:extLst>
                <a:ext uri="{FF2B5EF4-FFF2-40B4-BE49-F238E27FC236}">
                  <a16:creationId xmlns:a16="http://schemas.microsoft.com/office/drawing/2014/main" id="{255A2AA7-4F42-D078-77B8-F8CEB9279ADE}"/>
                </a:ext>
              </a:extLst>
            </p:cNvPr>
            <p:cNvSpPr/>
            <p:nvPr/>
          </p:nvSpPr>
          <p:spPr>
            <a:xfrm>
              <a:off x="0" y="560024"/>
              <a:ext cx="11116056" cy="565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>
              <a:extLst>
                <a:ext uri="{FF2B5EF4-FFF2-40B4-BE49-F238E27FC236}">
                  <a16:creationId xmlns:a16="http://schemas.microsoft.com/office/drawing/2014/main" id="{6D8555D2-EF73-851D-77F5-A058A9566B8C}"/>
                </a:ext>
              </a:extLst>
            </p:cNvPr>
            <p:cNvSpPr txBox="1"/>
            <p:nvPr/>
          </p:nvSpPr>
          <p:spPr>
            <a:xfrm>
              <a:off x="0" y="560023"/>
              <a:ext cx="11116056" cy="7225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17775" rIns="99550" bIns="17775" anchor="t" anchorCtr="0">
              <a:noAutofit/>
            </a:bodyPr>
            <a:lstStyle/>
            <a:p>
              <a:pPr marL="57150" lvl="1" indent="-69850">
                <a:lnSpc>
                  <a:spcPct val="90000"/>
                </a:lnSpc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dirty="0"/>
                <a:t> Análisis de 200+ ocupaciones en Jalisco</a:t>
              </a:r>
            </a:p>
            <a:p>
              <a:pPr marL="57150" lvl="1" indent="-69850">
                <a:lnSpc>
                  <a:spcPct val="90000"/>
                </a:lnSpc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n-US" sz="1100" dirty="0"/>
                <a:t> 6 </a:t>
              </a:r>
              <a:r>
                <a:rPr lang="en-US" sz="1100" dirty="0" err="1"/>
                <a:t>sectores</a:t>
              </a:r>
              <a:r>
                <a:rPr lang="en-US" sz="1100" dirty="0"/>
                <a:t> </a:t>
              </a:r>
              <a:r>
                <a:rPr lang="en-US" sz="1100" dirty="0" err="1"/>
                <a:t>económicos</a:t>
              </a:r>
              <a:r>
                <a:rPr lang="en-US" sz="1100" dirty="0"/>
                <a:t> </a:t>
              </a:r>
              <a:r>
                <a:rPr lang="en-US" sz="1100" dirty="0" err="1"/>
                <a:t>evaluados</a:t>
              </a:r>
              <a:endParaRPr lang="en-US" sz="1100" dirty="0"/>
            </a:p>
            <a:p>
              <a:pPr marL="57150" lvl="1" indent="-69850">
                <a:lnSpc>
                  <a:spcPct val="90000"/>
                </a:lnSpc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n-US" sz="1100" dirty="0"/>
                <a:t> 6 </a:t>
              </a:r>
              <a:r>
                <a:rPr lang="en-US" sz="1100" dirty="0" err="1"/>
                <a:t>niveles</a:t>
              </a:r>
              <a:r>
                <a:rPr lang="en-US" sz="1100" dirty="0"/>
                <a:t> </a:t>
              </a:r>
              <a:r>
                <a:rPr lang="en-US" sz="1100" dirty="0" err="1"/>
                <a:t>educativos</a:t>
              </a:r>
              <a:r>
                <a:rPr lang="en-US" sz="1100" dirty="0"/>
                <a:t> </a:t>
              </a:r>
              <a:r>
                <a:rPr lang="en-US" sz="1100" dirty="0" err="1"/>
                <a:t>categorizados</a:t>
              </a:r>
              <a:endParaRPr lang="en-US" sz="1100" dirty="0"/>
            </a:p>
          </p:txBody>
        </p:sp>
        <p:sp>
          <p:nvSpPr>
            <p:cNvPr id="161" name="Google Shape;161;p5">
              <a:extLst>
                <a:ext uri="{FF2B5EF4-FFF2-40B4-BE49-F238E27FC236}">
                  <a16:creationId xmlns:a16="http://schemas.microsoft.com/office/drawing/2014/main" id="{8A5E04AF-A795-1E21-C4E8-5B42052CF5E7}"/>
                </a:ext>
              </a:extLst>
            </p:cNvPr>
            <p:cNvSpPr/>
            <p:nvPr/>
          </p:nvSpPr>
          <p:spPr>
            <a:xfrm>
              <a:off x="0" y="1125134"/>
              <a:ext cx="11116056" cy="33579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>
              <a:extLst>
                <a:ext uri="{FF2B5EF4-FFF2-40B4-BE49-F238E27FC236}">
                  <a16:creationId xmlns:a16="http://schemas.microsoft.com/office/drawing/2014/main" id="{49D5D6EB-8789-EEA8-69AF-6813B718FFCA}"/>
                </a:ext>
              </a:extLst>
            </p:cNvPr>
            <p:cNvSpPr txBox="1"/>
            <p:nvPr/>
          </p:nvSpPr>
          <p:spPr>
            <a:xfrm>
              <a:off x="32784" y="1195295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ES" sz="14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 tradicionales predictoras identificadas</a:t>
              </a: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5">
              <a:extLst>
                <a:ext uri="{FF2B5EF4-FFF2-40B4-BE49-F238E27FC236}">
                  <a16:creationId xmlns:a16="http://schemas.microsoft.com/office/drawing/2014/main" id="{0BB69652-CDFC-DD2C-C646-EB1077F3E22F}"/>
                </a:ext>
              </a:extLst>
            </p:cNvPr>
            <p:cNvSpPr/>
            <p:nvPr/>
          </p:nvSpPr>
          <p:spPr>
            <a:xfrm>
              <a:off x="0" y="1460924"/>
              <a:ext cx="11116056" cy="1072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>
              <a:extLst>
                <a:ext uri="{FF2B5EF4-FFF2-40B4-BE49-F238E27FC236}">
                  <a16:creationId xmlns:a16="http://schemas.microsoft.com/office/drawing/2014/main" id="{18AEF413-BCCC-557F-D478-0558284ADC0D}"/>
                </a:ext>
              </a:extLst>
            </p:cNvPr>
            <p:cNvSpPr txBox="1"/>
            <p:nvPr/>
          </p:nvSpPr>
          <p:spPr>
            <a:xfrm>
              <a:off x="-16392" y="1460923"/>
              <a:ext cx="11116056" cy="10722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17775" rIns="99550" bIns="17775" anchor="t" anchorCtr="0">
              <a:noAutofit/>
            </a:bodyPr>
            <a:lstStyle/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Demanda cognitiva </a:t>
              </a: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Interacción social </a:t>
              </a: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Nivel educativo </a:t>
              </a: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Salario promedio </a:t>
              </a:r>
            </a:p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r>
                <a:rPr lang="es-ES" sz="11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Índice de rutinización</a:t>
              </a:r>
              <a:endParaRPr dirty="0"/>
            </a:p>
          </p:txBody>
        </p:sp>
        <p:sp>
          <p:nvSpPr>
            <p:cNvPr id="165" name="Google Shape;165;p5">
              <a:extLst>
                <a:ext uri="{FF2B5EF4-FFF2-40B4-BE49-F238E27FC236}">
                  <a16:creationId xmlns:a16="http://schemas.microsoft.com/office/drawing/2014/main" id="{1711BF1B-C80A-A0F9-B453-F114022B6ADF}"/>
                </a:ext>
              </a:extLst>
            </p:cNvPr>
            <p:cNvSpPr/>
            <p:nvPr/>
          </p:nvSpPr>
          <p:spPr>
            <a:xfrm>
              <a:off x="0" y="2533184"/>
              <a:ext cx="11116056" cy="33579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>
              <a:extLst>
                <a:ext uri="{FF2B5EF4-FFF2-40B4-BE49-F238E27FC236}">
                  <a16:creationId xmlns:a16="http://schemas.microsoft.com/office/drawing/2014/main" id="{626DC4CB-E74D-2176-77C6-FED42F042147}"/>
                </a:ext>
              </a:extLst>
            </p:cNvPr>
            <p:cNvSpPr txBox="1"/>
            <p:nvPr/>
          </p:nvSpPr>
          <p:spPr>
            <a:xfrm>
              <a:off x="16392" y="2549576"/>
              <a:ext cx="11083272" cy="303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ES" sz="14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Variables de LLM pendientes de implementación</a:t>
              </a:r>
              <a:endParaRPr dirty="0"/>
            </a:p>
          </p:txBody>
        </p:sp>
        <p:sp>
          <p:nvSpPr>
            <p:cNvPr id="167" name="Google Shape;167;p5">
              <a:extLst>
                <a:ext uri="{FF2B5EF4-FFF2-40B4-BE49-F238E27FC236}">
                  <a16:creationId xmlns:a16="http://schemas.microsoft.com/office/drawing/2014/main" id="{5D5860F2-9CBF-2853-9C8F-3C78A9DE3FE4}"/>
                </a:ext>
              </a:extLst>
            </p:cNvPr>
            <p:cNvSpPr/>
            <p:nvPr/>
          </p:nvSpPr>
          <p:spPr>
            <a:xfrm>
              <a:off x="0" y="2868974"/>
              <a:ext cx="11116056" cy="376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>
              <a:extLst>
                <a:ext uri="{FF2B5EF4-FFF2-40B4-BE49-F238E27FC236}">
                  <a16:creationId xmlns:a16="http://schemas.microsoft.com/office/drawing/2014/main" id="{F2415B94-AB76-CE4E-8654-81B74E2D0F83}"/>
                </a:ext>
              </a:extLst>
            </p:cNvPr>
            <p:cNvSpPr txBox="1"/>
            <p:nvPr/>
          </p:nvSpPr>
          <p:spPr>
            <a:xfrm>
              <a:off x="-82296" y="2868974"/>
              <a:ext cx="11198352" cy="5002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17775" rIns="99550" bIns="17775" anchor="t" anchorCtr="0">
              <a:noAutofit/>
            </a:bodyPr>
            <a:lstStyle/>
            <a:p>
              <a:pPr lvl="1">
                <a:lnSpc>
                  <a:spcPct val="90000"/>
                </a:lnSpc>
                <a:buClr>
                  <a:schemeClr val="dk1"/>
                </a:buClr>
                <a:buSzPts val="1100"/>
              </a:pPr>
              <a:r>
                <a:rPr lang="es-ES" sz="11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Capacidad de Razonamiento complejo			</a:t>
              </a:r>
              <a:r>
                <a:rPr lang="es-ES" sz="11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Analisis</a:t>
              </a:r>
              <a:r>
                <a:rPr lang="es-ES" sz="11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contextual avanzado</a:t>
              </a:r>
            </a:p>
            <a:p>
              <a:pPr lvl="1">
                <a:lnSpc>
                  <a:spcPct val="90000"/>
                </a:lnSpc>
                <a:buClr>
                  <a:schemeClr val="dk1"/>
                </a:buClr>
                <a:buSzPts val="1100"/>
              </a:pPr>
              <a:r>
                <a:rPr lang="es-ES" sz="11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Procesamiento de lenguaje natural			</a:t>
              </a:r>
              <a:r>
                <a:rPr lang="es-ES" sz="1100" b="1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Generacion</a:t>
              </a:r>
              <a:r>
                <a:rPr lang="es-ES" sz="11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 contenido creativo </a:t>
              </a:r>
            </a:p>
            <a:p>
              <a: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</a:pPr>
              <a:endParaRPr sz="11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5">
              <a:extLst>
                <a:ext uri="{FF2B5EF4-FFF2-40B4-BE49-F238E27FC236}">
                  <a16:creationId xmlns:a16="http://schemas.microsoft.com/office/drawing/2014/main" id="{B061ADB1-0C98-C365-9D44-0F9FC53B3716}"/>
                </a:ext>
              </a:extLst>
            </p:cNvPr>
            <p:cNvSpPr/>
            <p:nvPr/>
          </p:nvSpPr>
          <p:spPr>
            <a:xfrm>
              <a:off x="32784" y="3261264"/>
              <a:ext cx="11083272" cy="335790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>
              <a:extLst>
                <a:ext uri="{FF2B5EF4-FFF2-40B4-BE49-F238E27FC236}">
                  <a16:creationId xmlns:a16="http://schemas.microsoft.com/office/drawing/2014/main" id="{93809250-2C50-49CC-6C3F-CCEC2B30966D}"/>
                </a:ext>
              </a:extLst>
            </p:cNvPr>
            <p:cNvSpPr txBox="1"/>
            <p:nvPr/>
          </p:nvSpPr>
          <p:spPr>
            <a:xfrm>
              <a:off x="115080" y="3344600"/>
              <a:ext cx="11083272" cy="1952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s-ES" sz="1400" b="1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Modelado Predictivo</a:t>
              </a: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5">
              <a:extLst>
                <a:ext uri="{FF2B5EF4-FFF2-40B4-BE49-F238E27FC236}">
                  <a16:creationId xmlns:a16="http://schemas.microsoft.com/office/drawing/2014/main" id="{A492F39D-3704-E091-EB9E-5735856EF60D}"/>
                </a:ext>
              </a:extLst>
            </p:cNvPr>
            <p:cNvSpPr/>
            <p:nvPr/>
          </p:nvSpPr>
          <p:spPr>
            <a:xfrm>
              <a:off x="0" y="3581504"/>
              <a:ext cx="11116056" cy="11012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>
              <a:extLst>
                <a:ext uri="{FF2B5EF4-FFF2-40B4-BE49-F238E27FC236}">
                  <a16:creationId xmlns:a16="http://schemas.microsoft.com/office/drawing/2014/main" id="{E337C4F2-EA67-02FF-9D0A-D4CE7EEFFFD4}"/>
                </a:ext>
              </a:extLst>
            </p:cNvPr>
            <p:cNvSpPr txBox="1"/>
            <p:nvPr/>
          </p:nvSpPr>
          <p:spPr>
            <a:xfrm>
              <a:off x="0" y="3581504"/>
              <a:ext cx="11116056" cy="1253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2925" tIns="17775" rIns="99550" bIns="17775" anchor="t" anchorCtr="0">
              <a:noAutofit/>
            </a:bodyPr>
            <a:lstStyle/>
            <a:p>
              <a:pPr marL="57150" marR="0" lvl="1" indent="-698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Char char="•"/>
              </a:pPr>
              <a:endParaRPr dirty="0"/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E07BD2-629E-4F61-77B5-37086A3F6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14660"/>
              </p:ext>
            </p:extLst>
          </p:nvPr>
        </p:nvGraphicFramePr>
        <p:xfrm>
          <a:off x="2254776" y="4756432"/>
          <a:ext cx="4996416" cy="1278480"/>
        </p:xfrm>
        <a:graphic>
          <a:graphicData uri="http://schemas.openxmlformats.org/drawingml/2006/table">
            <a:tbl>
              <a:tblPr firstRow="1" bandRow="1">
                <a:tableStyleId>{6908C3E7-59CD-4291-B1E9-87A5D1F1BDEB}</a:tableStyleId>
              </a:tblPr>
              <a:tblGrid>
                <a:gridCol w="1249104">
                  <a:extLst>
                    <a:ext uri="{9D8B030D-6E8A-4147-A177-3AD203B41FA5}">
                      <a16:colId xmlns:a16="http://schemas.microsoft.com/office/drawing/2014/main" val="1303567174"/>
                    </a:ext>
                  </a:extLst>
                </a:gridCol>
                <a:gridCol w="1249104">
                  <a:extLst>
                    <a:ext uri="{9D8B030D-6E8A-4147-A177-3AD203B41FA5}">
                      <a16:colId xmlns:a16="http://schemas.microsoft.com/office/drawing/2014/main" val="900067741"/>
                    </a:ext>
                  </a:extLst>
                </a:gridCol>
                <a:gridCol w="1249104">
                  <a:extLst>
                    <a:ext uri="{9D8B030D-6E8A-4147-A177-3AD203B41FA5}">
                      <a16:colId xmlns:a16="http://schemas.microsoft.com/office/drawing/2014/main" val="3518761323"/>
                    </a:ext>
                  </a:extLst>
                </a:gridCol>
                <a:gridCol w="1249104">
                  <a:extLst>
                    <a:ext uri="{9D8B030D-6E8A-4147-A177-3AD203B41FA5}">
                      <a16:colId xmlns:a16="http://schemas.microsoft.com/office/drawing/2014/main" val="2177197640"/>
                    </a:ext>
                  </a:extLst>
                </a:gridCol>
              </a:tblGrid>
              <a:tr h="319620">
                <a:tc>
                  <a:txBody>
                    <a:bodyPr/>
                    <a:lstStyle/>
                    <a:p>
                      <a:r>
                        <a:rPr lang="es-MX" sz="1000" dirty="0"/>
                        <a:t>Modelo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RMSE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MAE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R2 Score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280350"/>
                  </a:ext>
                </a:extLst>
              </a:tr>
              <a:tr h="319620">
                <a:tc>
                  <a:txBody>
                    <a:bodyPr/>
                    <a:lstStyle/>
                    <a:p>
                      <a:r>
                        <a:rPr lang="es-MX" sz="1000" dirty="0" err="1"/>
                        <a:t>Random</a:t>
                      </a:r>
                      <a:r>
                        <a:rPr lang="es-MX" sz="1000" dirty="0"/>
                        <a:t> Forest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0.1129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0.0903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0.7521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547573"/>
                  </a:ext>
                </a:extLst>
              </a:tr>
              <a:tr h="319620">
                <a:tc>
                  <a:txBody>
                    <a:bodyPr/>
                    <a:lstStyle/>
                    <a:p>
                      <a:r>
                        <a:rPr lang="es-MX" sz="1000" dirty="0"/>
                        <a:t>Light GBM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0.1160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0.0925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0.7383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09752"/>
                  </a:ext>
                </a:extLst>
              </a:tr>
              <a:tr h="319620">
                <a:tc>
                  <a:txBody>
                    <a:bodyPr/>
                    <a:lstStyle/>
                    <a:p>
                      <a:r>
                        <a:rPr lang="es-MX" sz="1000" dirty="0" err="1"/>
                        <a:t>Regresion</a:t>
                      </a:r>
                      <a:r>
                        <a:rPr lang="es-MX" sz="1000" dirty="0"/>
                        <a:t> Lineal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0.1318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0.1070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dirty="0"/>
                        <a:t>0.6624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560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444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637F1E35-D6A1-E70D-B040-26EF1209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91F5374-EB5D-1A61-236F-6EF8662D9032}"/>
              </a:ext>
            </a:extLst>
          </p:cNvPr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3" name="Google Shape;153;p5" descr="A logo with blue and red text&#10;&#10;AI-generated content may be incorrect.">
            <a:extLst>
              <a:ext uri="{FF2B5EF4-FFF2-40B4-BE49-F238E27FC236}">
                <a16:creationId xmlns:a16="http://schemas.microsoft.com/office/drawing/2014/main" id="{D8906CC7-AE48-8CC0-9927-6CEF5D0E50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>
            <a:extLst>
              <a:ext uri="{FF2B5EF4-FFF2-40B4-BE49-F238E27FC236}">
                <a16:creationId xmlns:a16="http://schemas.microsoft.com/office/drawing/2014/main" id="{2D37BB32-09A1-4EB1-0181-0D7E53DF3308}"/>
              </a:ext>
            </a:extLst>
          </p:cNvPr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III. Resultados preli</a:t>
            </a:r>
            <a:r>
              <a:rPr lang="es-ES" sz="4000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minares</a:t>
            </a:r>
            <a:endParaRPr dirty="0"/>
          </a:p>
        </p:txBody>
      </p:sp>
      <p:pic>
        <p:nvPicPr>
          <p:cNvPr id="155" name="Google Shape;155;p5" descr="A blue and white logo&#10;&#10;AI-generated content may be incorrect.">
            <a:extLst>
              <a:ext uri="{FF2B5EF4-FFF2-40B4-BE49-F238E27FC236}">
                <a16:creationId xmlns:a16="http://schemas.microsoft.com/office/drawing/2014/main" id="{951088CA-112E-9352-578F-3AF9A4E8D4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363358A2-4E4E-EA12-6261-D12D382CF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90" y="1269985"/>
            <a:ext cx="10753989" cy="476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0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A5FCDD0B-BE24-B615-7DDC-FDB60DCC3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60AC7BBE-AD39-65C6-2CEE-BDF726D4D009}"/>
              </a:ext>
            </a:extLst>
          </p:cNvPr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3" name="Google Shape;153;p5" descr="A logo with blue and red text&#10;&#10;AI-generated content may be incorrect.">
            <a:extLst>
              <a:ext uri="{FF2B5EF4-FFF2-40B4-BE49-F238E27FC236}">
                <a16:creationId xmlns:a16="http://schemas.microsoft.com/office/drawing/2014/main" id="{E30606A6-4E5A-4903-A56A-1112AB86A1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>
            <a:extLst>
              <a:ext uri="{FF2B5EF4-FFF2-40B4-BE49-F238E27FC236}">
                <a16:creationId xmlns:a16="http://schemas.microsoft.com/office/drawing/2014/main" id="{F9BF3305-8115-8576-EEF9-3F514697E7C6}"/>
              </a:ext>
            </a:extLst>
          </p:cNvPr>
          <p:cNvSpPr txBox="1"/>
          <p:nvPr/>
        </p:nvSpPr>
        <p:spPr>
          <a:xfrm>
            <a:off x="474198" y="-183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III. Resultados preli</a:t>
            </a:r>
            <a:r>
              <a:rPr lang="es-ES" sz="4000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minares</a:t>
            </a:r>
            <a:endParaRPr dirty="0"/>
          </a:p>
        </p:txBody>
      </p:sp>
      <p:pic>
        <p:nvPicPr>
          <p:cNvPr id="155" name="Google Shape;155;p5" descr="A blue and white logo&#10;&#10;AI-generated content may be incorrect.">
            <a:extLst>
              <a:ext uri="{FF2B5EF4-FFF2-40B4-BE49-F238E27FC236}">
                <a16:creationId xmlns:a16="http://schemas.microsoft.com/office/drawing/2014/main" id="{30DC3E1B-BF07-1C45-B8CA-589EE6FE21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8FA4BB81-92D3-CCFB-AC60-90F2470DB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4795" y="1269984"/>
            <a:ext cx="7208833" cy="478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05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F25E0BF7-9675-A234-D3B3-3E930008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>
            <a:extLst>
              <a:ext uri="{FF2B5EF4-FFF2-40B4-BE49-F238E27FC236}">
                <a16:creationId xmlns:a16="http://schemas.microsoft.com/office/drawing/2014/main" id="{A67AA984-EB6E-105A-FF74-1A995A7D8B06}"/>
              </a:ext>
            </a:extLst>
          </p:cNvPr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6" name="Google Shape;136;p4" descr="A logo with blue and red text&#10;&#10;AI-generated content may be incorrect.">
            <a:extLst>
              <a:ext uri="{FF2B5EF4-FFF2-40B4-BE49-F238E27FC236}">
                <a16:creationId xmlns:a16="http://schemas.microsoft.com/office/drawing/2014/main" id="{DC7095F4-5302-7FA1-5299-FB60C569E7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0607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>
            <a:extLst>
              <a:ext uri="{FF2B5EF4-FFF2-40B4-BE49-F238E27FC236}">
                <a16:creationId xmlns:a16="http://schemas.microsoft.com/office/drawing/2014/main" id="{16DBCB3B-8006-6C8A-88DB-9E96DDD53694}"/>
              </a:ext>
            </a:extLst>
          </p:cNvPr>
          <p:cNvSpPr txBox="1"/>
          <p:nvPr/>
        </p:nvSpPr>
        <p:spPr>
          <a:xfrm>
            <a:off x="792655" y="-33911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II</a:t>
            </a:r>
            <a:r>
              <a:rPr lang="es-ES" sz="4000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s-ES" sz="4000" b="0" i="0" u="none" strike="noStrike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s-ES" sz="4000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Primeros resultados</a:t>
            </a:r>
            <a:endParaRPr dirty="0"/>
          </a:p>
        </p:txBody>
      </p:sp>
      <p:pic>
        <p:nvPicPr>
          <p:cNvPr id="138" name="Google Shape;138;p4" descr="A blue and white logo&#10;&#10;AI-generated content may be incorrect.">
            <a:extLst>
              <a:ext uri="{FF2B5EF4-FFF2-40B4-BE49-F238E27FC236}">
                <a16:creationId xmlns:a16="http://schemas.microsoft.com/office/drawing/2014/main" id="{12E13567-1258-DB80-90EF-81765A39FE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D3693886-5293-B370-B54D-812F64ED5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02" y="1070048"/>
            <a:ext cx="6070186" cy="524024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596B61-CA7D-F4CD-CF93-4B278D68A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527974"/>
              </p:ext>
            </p:extLst>
          </p:nvPr>
        </p:nvGraphicFramePr>
        <p:xfrm>
          <a:off x="6537960" y="1114340"/>
          <a:ext cx="5471335" cy="2845030"/>
        </p:xfrm>
        <a:graphic>
          <a:graphicData uri="http://schemas.openxmlformats.org/drawingml/2006/table">
            <a:tbl>
              <a:tblPr firstRow="1" bandRow="1">
                <a:tableStyleId>{6908C3E7-59CD-4291-B1E9-87A5D1F1BDEB}</a:tableStyleId>
              </a:tblPr>
              <a:tblGrid>
                <a:gridCol w="2232989">
                  <a:extLst>
                    <a:ext uri="{9D8B030D-6E8A-4147-A177-3AD203B41FA5}">
                      <a16:colId xmlns:a16="http://schemas.microsoft.com/office/drawing/2014/main" val="1452809553"/>
                    </a:ext>
                  </a:extLst>
                </a:gridCol>
                <a:gridCol w="1414568">
                  <a:extLst>
                    <a:ext uri="{9D8B030D-6E8A-4147-A177-3AD203B41FA5}">
                      <a16:colId xmlns:a16="http://schemas.microsoft.com/office/drawing/2014/main" val="3811068276"/>
                    </a:ext>
                  </a:extLst>
                </a:gridCol>
                <a:gridCol w="1823778">
                  <a:extLst>
                    <a:ext uri="{9D8B030D-6E8A-4147-A177-3AD203B41FA5}">
                      <a16:colId xmlns:a16="http://schemas.microsoft.com/office/drawing/2014/main" val="3404697187"/>
                    </a:ext>
                  </a:extLst>
                </a:gridCol>
              </a:tblGrid>
              <a:tr h="365004">
                <a:tc>
                  <a:txBody>
                    <a:bodyPr/>
                    <a:lstStyle/>
                    <a:p>
                      <a:r>
                        <a:rPr lang="es-MX" dirty="0"/>
                        <a:t>Variables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Correlación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Interpretación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590034"/>
                  </a:ext>
                </a:extLst>
              </a:tr>
              <a:tr h="365004">
                <a:tc>
                  <a:txBody>
                    <a:bodyPr/>
                    <a:lstStyle/>
                    <a:p>
                      <a:r>
                        <a:rPr lang="en-US" sz="1000" dirty="0" err="1"/>
                        <a:t>automation_risk</a:t>
                      </a:r>
                      <a:r>
                        <a:rPr lang="en-US" sz="1000" dirty="0"/>
                        <a:t> ↔ </a:t>
                      </a:r>
                      <a:r>
                        <a:rPr lang="en-US" sz="1000" dirty="0" err="1"/>
                        <a:t>cognitive_demand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-0.83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Fuerte Negativa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320717"/>
                  </a:ext>
                </a:extLst>
              </a:tr>
              <a:tr h="365004">
                <a:tc>
                  <a:txBody>
                    <a:bodyPr/>
                    <a:lstStyle/>
                    <a:p>
                      <a:r>
                        <a:rPr lang="en-US" sz="1000" dirty="0" err="1"/>
                        <a:t>automation_risk</a:t>
                      </a:r>
                      <a:r>
                        <a:rPr lang="en-US" sz="1000" dirty="0"/>
                        <a:t> ↔ </a:t>
                      </a:r>
                      <a:r>
                        <a:rPr lang="en-US" sz="1000" dirty="0" err="1"/>
                        <a:t>social_interaction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-0.67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Moderada Negativa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440643"/>
                  </a:ext>
                </a:extLst>
              </a:tr>
              <a:tr h="365004">
                <a:tc>
                  <a:txBody>
                    <a:bodyPr/>
                    <a:lstStyle/>
                    <a:p>
                      <a:r>
                        <a:rPr lang="en-US" sz="1000" dirty="0" err="1"/>
                        <a:t>automation_risk</a:t>
                      </a:r>
                      <a:r>
                        <a:rPr lang="en-US" sz="1000" dirty="0"/>
                        <a:t> ↔ </a:t>
                      </a:r>
                      <a:r>
                        <a:rPr lang="en-US" sz="1000" dirty="0" err="1"/>
                        <a:t>education_level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-0.66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Moderada Negativa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732006"/>
                  </a:ext>
                </a:extLst>
              </a:tr>
              <a:tr h="365004">
                <a:tc>
                  <a:txBody>
                    <a:bodyPr/>
                    <a:lstStyle/>
                    <a:p>
                      <a:r>
                        <a:rPr lang="en-US" sz="1000" dirty="0" err="1"/>
                        <a:t>automation_risk</a:t>
                      </a:r>
                      <a:r>
                        <a:rPr lang="en-US" sz="1000" dirty="0"/>
                        <a:t> ↔ </a:t>
                      </a:r>
                      <a:r>
                        <a:rPr lang="en-US" sz="1000" dirty="0" err="1"/>
                        <a:t>avg_salary_mxn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-0.62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Moderada Negativa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211989"/>
                  </a:ext>
                </a:extLst>
              </a:tr>
              <a:tr h="5100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err="1"/>
                        <a:t>education_level</a:t>
                      </a:r>
                      <a:r>
                        <a:rPr lang="en-US" sz="1000" dirty="0"/>
                        <a:t> ↔ </a:t>
                      </a:r>
                      <a:r>
                        <a:rPr lang="en-US" sz="1000" dirty="0" err="1"/>
                        <a:t>cognitive_demand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0.81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Fuerte Positiva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764604"/>
                  </a:ext>
                </a:extLst>
              </a:tr>
              <a:tr h="5100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 err="1"/>
                        <a:t>education_level</a:t>
                      </a:r>
                      <a:r>
                        <a:rPr lang="en-US" sz="1000" dirty="0"/>
                        <a:t> ↔ </a:t>
                      </a:r>
                      <a:r>
                        <a:rPr lang="en-US" sz="1000" dirty="0" err="1"/>
                        <a:t>avg_salary_mxn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0.79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Fuerte Positiva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8817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68B7945-65F0-7E83-254F-53441AA17D30}"/>
              </a:ext>
            </a:extLst>
          </p:cNvPr>
          <p:cNvSpPr txBox="1"/>
          <p:nvPr/>
        </p:nvSpPr>
        <p:spPr>
          <a:xfrm>
            <a:off x="6720840" y="4168851"/>
            <a:ext cx="55412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Hallazgos clave:</a:t>
            </a:r>
          </a:p>
          <a:p>
            <a:endParaRPr lang="es-ES" dirty="0"/>
          </a:p>
          <a:p>
            <a:r>
              <a:rPr lang="es-ES" dirty="0"/>
              <a:t> </a:t>
            </a:r>
            <a:r>
              <a:rPr lang="es-ES" b="1" dirty="0"/>
              <a:t>Demanda cognitiva</a:t>
            </a:r>
            <a:r>
              <a:rPr lang="es-ES" dirty="0"/>
              <a:t> es el mejor predictor (-0.83)</a:t>
            </a:r>
          </a:p>
          <a:p>
            <a:r>
              <a:rPr lang="es-ES" dirty="0"/>
              <a:t> </a:t>
            </a:r>
            <a:r>
              <a:rPr lang="es-ES" b="1" dirty="0"/>
              <a:t>Interacción social</a:t>
            </a:r>
            <a:r>
              <a:rPr lang="es-ES" dirty="0"/>
              <a:t> protege contra automatización (-0.67)</a:t>
            </a:r>
          </a:p>
          <a:p>
            <a:r>
              <a:rPr lang="es-ES" dirty="0"/>
              <a:t> </a:t>
            </a:r>
            <a:r>
              <a:rPr lang="es-ES" b="1" dirty="0"/>
              <a:t>Educación</a:t>
            </a:r>
            <a:r>
              <a:rPr lang="es-ES" dirty="0"/>
              <a:t> se correlaciona con salarios altos (+0.79)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7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467752" y="-1927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 dirty="0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Capítulo IV. Resultados esperados con variables </a:t>
            </a:r>
            <a:r>
              <a:rPr lang="es-ES" sz="4000" b="0" i="0" u="none" strike="noStrike" cap="small" dirty="0" err="1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dirty="0"/>
          </a:p>
        </p:txBody>
      </p:sp>
      <p:pic>
        <p:nvPicPr>
          <p:cNvPr id="179" name="Google Shape;179;p6" descr="A logo with blue and red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2684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6" descr="A blue and white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6"/>
          <p:cNvGrpSpPr/>
          <p:nvPr/>
        </p:nvGrpSpPr>
        <p:grpSpPr>
          <a:xfrm>
            <a:off x="563665" y="1475321"/>
            <a:ext cx="10302771" cy="3466251"/>
            <a:chOff x="1283" y="62227"/>
            <a:chExt cx="10302771" cy="3466251"/>
          </a:xfrm>
        </p:grpSpPr>
        <p:sp>
          <p:nvSpPr>
            <p:cNvPr id="182" name="Google Shape;182;p6"/>
            <p:cNvSpPr/>
            <p:nvPr/>
          </p:nvSpPr>
          <p:spPr>
            <a:xfrm>
              <a:off x="1052586" y="484017"/>
              <a:ext cx="841042" cy="71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1944092" y="413405"/>
              <a:ext cx="96719" cy="181664"/>
            </a:xfrm>
            <a:prstGeom prst="chevron">
              <a:avLst>
                <a:gd name="adj" fmla="val 90000"/>
              </a:avLst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25631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w="12700" cap="flat" cmpd="sng">
              <a:solidFill>
                <a:srgbClr val="599B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649181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725" tIns="32725" rIns="32725" bIns="32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lang="es-ES" sz="3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1283" y="1071478"/>
              <a:ext cx="1892345" cy="24570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 txBox="1"/>
            <p:nvPr/>
          </p:nvSpPr>
          <p:spPr>
            <a:xfrm>
              <a:off x="1283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250" tIns="165100" rIns="149250" bIns="165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Modelo predictivo funcional y validado</a:t>
              </a:r>
              <a:b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modelo que estime con alta precisión el riesgo de sustitución laboral por Inteligencia Artificial, adaptado al contexto mexicano (caso Jalisco 2025–2030), con base en datos del INEGI y mapeo con O*NET.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2103890" y="484017"/>
              <a:ext cx="1892345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4046698" y="413405"/>
              <a:ext cx="96719" cy="181665"/>
            </a:xfrm>
            <a:prstGeom prst="chevron">
              <a:avLst>
                <a:gd name="adj" fmla="val 90000"/>
              </a:avLst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2628237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w="12700" cap="flat" cmpd="sng">
              <a:solidFill>
                <a:srgbClr val="599B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 txBox="1"/>
            <p:nvPr/>
          </p:nvSpPr>
          <p:spPr>
            <a:xfrm>
              <a:off x="2751787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725" tIns="32725" rIns="32725" bIns="32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lang="es-ES" sz="3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3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2103890" y="1071478"/>
              <a:ext cx="1892345" cy="24570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 txBox="1"/>
            <p:nvPr/>
          </p:nvSpPr>
          <p:spPr>
            <a:xfrm>
              <a:off x="2103890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250" tIns="165100" rIns="149250" bIns="165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Clasificación de ocupaciones por nivel de riesgo</a:t>
              </a:r>
              <a:b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Una lista detallada de ocupaciones agrupadas en </a:t>
              </a: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alto, medio y bajo riesgo de automatización</a:t>
              </a: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útil para orientar decisiones de política pública, reconversión laboral y formación técnica.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4206496" y="484017"/>
              <a:ext cx="1892345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6149305" y="413405"/>
              <a:ext cx="96719" cy="181665"/>
            </a:xfrm>
            <a:prstGeom prst="chevron">
              <a:avLst>
                <a:gd name="adj" fmla="val 90000"/>
              </a:avLst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730844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w="12700" cap="flat" cmpd="sng">
              <a:solidFill>
                <a:srgbClr val="599B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 txBox="1"/>
            <p:nvPr/>
          </p:nvSpPr>
          <p:spPr>
            <a:xfrm>
              <a:off x="4854394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725" tIns="32725" rIns="32725" bIns="32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lang="es-ES" sz="3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206496" y="1071478"/>
              <a:ext cx="1892345" cy="24570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4206496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250" tIns="165100" rIns="149250" bIns="165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Identificación de factores clave</a:t>
              </a:r>
              <a:b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Insights claros sobre qué características (ej. nivel de rutina, creatividad, destrezas manuales, exposición a IA generativa) explican el riesgo de sustitución en distintas ocupaciones.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309103" y="484017"/>
              <a:ext cx="1892345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8251911" y="413405"/>
              <a:ext cx="96719" cy="181665"/>
            </a:xfrm>
            <a:prstGeom prst="chevron">
              <a:avLst>
                <a:gd name="adj" fmla="val 90000"/>
              </a:avLst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6833450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w="12700" cap="flat" cmpd="sng">
              <a:solidFill>
                <a:srgbClr val="599B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 txBox="1"/>
            <p:nvPr/>
          </p:nvSpPr>
          <p:spPr>
            <a:xfrm>
              <a:off x="6957000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725" tIns="32725" rIns="32725" bIns="32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lang="es-ES" sz="3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309103" y="1071478"/>
              <a:ext cx="1892345" cy="24570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6309103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250" tIns="165100" rIns="149250" bIns="165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Incorporación de nuevos indicadores</a:t>
              </a:r>
              <a:b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Inclusión y prueba de métricas emergentes como el </a:t>
              </a: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LLM Task Similarity Score</a:t>
              </a: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permitiendo capturar riesgos derivados de modelos como GPT‑4 y herramientas similares.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8411709" y="484016"/>
              <a:ext cx="946172" cy="72"/>
            </a:xfrm>
            <a:prstGeom prst="rect">
              <a:avLst/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8936057" y="62227"/>
              <a:ext cx="843651" cy="843651"/>
            </a:xfrm>
            <a:prstGeom prst="ellipse">
              <a:avLst/>
            </a:prstGeom>
            <a:solidFill>
              <a:srgbClr val="599BD5"/>
            </a:solidFill>
            <a:ln w="12700" cap="flat" cmpd="sng">
              <a:solidFill>
                <a:srgbClr val="599B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9059607" y="185777"/>
              <a:ext cx="596551" cy="596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725" tIns="32725" rIns="32725" bIns="327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alibri"/>
                <a:buNone/>
              </a:pPr>
              <a:r>
                <a:rPr lang="es-ES" sz="3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8411709" y="1071478"/>
              <a:ext cx="1892345" cy="2457000"/>
            </a:xfrm>
            <a:prstGeom prst="upArrowCallout">
              <a:avLst>
                <a:gd name="adj1" fmla="val 50000"/>
                <a:gd name="adj2" fmla="val 20000"/>
                <a:gd name="adj3" fmla="val 20000"/>
                <a:gd name="adj4" fmla="val 100000"/>
              </a:avLst>
            </a:prstGeom>
            <a:solidFill>
              <a:srgbClr val="CFDEEF">
                <a:alpha val="89803"/>
              </a:srgbClr>
            </a:solidFill>
            <a:ln w="12700" cap="flat" cmpd="sng">
              <a:solidFill>
                <a:srgbClr val="CFDEEF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 txBox="1"/>
            <p:nvPr/>
          </p:nvSpPr>
          <p:spPr>
            <a:xfrm>
              <a:off x="8411709" y="1449947"/>
              <a:ext cx="1892345" cy="207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9250" tIns="165100" rIns="149250" bIns="1651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lang="es-ES" sz="11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Herramienta visual o dashboard interactivo</a:t>
              </a:r>
              <a:b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prototipo de aplicación web que permita consultar de forma simple el riesgo de automatización por ocupación, facilitando el uso del modelo por parte de instituciones educativas, empresas o gobiernos.</a:t>
              </a:r>
              <a:endPara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5600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/>
          </a:p>
        </p:txBody>
      </p:sp>
      <p:pic>
        <p:nvPicPr>
          <p:cNvPr id="217" name="Google Shape;21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2684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7"/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706315" y="1325562"/>
            <a:ext cx="10515600" cy="506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7"/>
          <p:cNvGraphicFramePr/>
          <p:nvPr>
            <p:extLst>
              <p:ext uri="{D42A27DB-BD31-4B8C-83A1-F6EECF244321}">
                <p14:modId xmlns:p14="http://schemas.microsoft.com/office/powerpoint/2010/main" val="3898646420"/>
              </p:ext>
            </p:extLst>
          </p:nvPr>
        </p:nvGraphicFramePr>
        <p:xfrm>
          <a:off x="121685" y="1262563"/>
          <a:ext cx="11948650" cy="5011640"/>
        </p:xfrm>
        <a:graphic>
          <a:graphicData uri="http://schemas.openxmlformats.org/drawingml/2006/table">
            <a:tbl>
              <a:tblPr>
                <a:noFill/>
                <a:tableStyleId>{6908C3E7-59CD-4291-B1E9-87A5D1F1BDEB}</a:tableStyleId>
              </a:tblPr>
              <a:tblGrid>
                <a:gridCol w="185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Etapa / Actividad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2025B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2026A 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2026B  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2027A  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Revisión de literatura y antecedentes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 dirty="0"/>
                        <a:t>✅ Agosto – Septiembre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Correción de marco teórico y definición metodológica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Septiembre – Octubre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Obtención y limpieza de datos (INEGI, O*NET)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Octubre– Noviembre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 dirty="0"/>
                        <a:t>Mapeo y normalización de ocupaciones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 dirty="0"/>
                        <a:t>✅ Noviembre – Enero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 dirty="0"/>
                        <a:t>Cálculo de índices (RTI, </a:t>
                      </a:r>
                      <a:r>
                        <a:rPr lang="es-ES" sz="1100" u="none" strike="noStrike" cap="none" dirty="0" err="1"/>
                        <a:t>Creativity</a:t>
                      </a:r>
                      <a:r>
                        <a:rPr lang="es-ES" sz="1100" u="none" strike="noStrike" cap="none" dirty="0"/>
                        <a:t>, etc.)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Feb–Mar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 dirty="0"/>
                        <a:t>Incorporación de indicadores emergentes de IA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 dirty="0"/>
                        <a:t>✅ Mar–Abr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Desarrollo y entrenamiento de modelos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May–Jul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Ago–Sep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Evaluación y validación del modelo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Sep–Nov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Visualización y desarrollo del dashboard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Nov–Ene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Redacción de resultados y análisis de impacto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Ene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Feb–Mar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Escritura y revisión del documento final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✅ Mar–Jun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8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/>
                        <a:t>Presentación y defensa del trabajo de tesis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u="none" strike="noStrike" cap="none" dirty="0"/>
                        <a:t>✅ Jul 2027</a:t>
                      </a:r>
                      <a:endParaRPr sz="11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25" marR="3325" marT="332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/>
        </p:nvSpPr>
        <p:spPr>
          <a:xfrm>
            <a:off x="7643191" y="6310289"/>
            <a:ext cx="4055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1" u="none" strike="noStrike" cap="small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5600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780"/>
              </a:buClr>
              <a:buSzPts val="4000"/>
              <a:buFont typeface="Calibri"/>
              <a:buNone/>
            </a:pPr>
            <a:r>
              <a:rPr lang="es-ES" sz="4000" b="0" i="0" u="none" strike="noStrike" cap="small">
                <a:solidFill>
                  <a:srgbClr val="002780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/>
          </a:p>
        </p:txBody>
      </p:sp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2684" y="6182398"/>
            <a:ext cx="1761393" cy="675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8"/>
          <p:cNvPicPr preferRelativeResize="0"/>
          <p:nvPr/>
        </p:nvPicPr>
        <p:blipFill rotWithShape="1">
          <a:blip r:embed="rId4">
            <a:alphaModFix/>
          </a:blip>
          <a:srcRect b="17234"/>
          <a:stretch/>
        </p:blipFill>
        <p:spPr>
          <a:xfrm>
            <a:off x="87923" y="6211299"/>
            <a:ext cx="2580521" cy="61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 txBox="1"/>
          <p:nvPr/>
        </p:nvSpPr>
        <p:spPr>
          <a:xfrm>
            <a:off x="669739" y="2514695"/>
            <a:ext cx="10515600" cy="369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 Pulido Rosas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de contacto: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+52 3310305580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carlos.pulido.rosas@gmail.com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1401</Words>
  <Application>Microsoft Office PowerPoint</Application>
  <PresentationFormat>Widescreen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Century Gothic</vt:lpstr>
      <vt:lpstr>Arial</vt:lpstr>
      <vt:lpstr>Cambria Math</vt:lpstr>
      <vt:lpstr>Tema de Office</vt:lpstr>
      <vt:lpstr>Presentación de Proyectos Aspirantes 2025B Maestría en ciencias de los datos Centro Universitario de Ciencias Económico-Administrativas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MCD</dc:creator>
  <cp:lastModifiedBy>Carlos Pulido Rosas</cp:lastModifiedBy>
  <cp:revision>1</cp:revision>
  <dcterms:created xsi:type="dcterms:W3CDTF">2021-11-10T18:45:26Z</dcterms:created>
  <dcterms:modified xsi:type="dcterms:W3CDTF">2025-12-12T02:04:11Z</dcterms:modified>
</cp:coreProperties>
</file>